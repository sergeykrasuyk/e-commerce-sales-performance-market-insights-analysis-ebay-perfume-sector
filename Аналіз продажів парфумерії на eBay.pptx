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embeddedFontLst>
    <p:embeddedFont>
      <p:font typeface="Century Gothic"/>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iVEVP2LM+D8IpMlWYWt3qzGwPa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enturyGothic-regular.fntdata"/><Relationship Id="rId11" Type="http://schemas.openxmlformats.org/officeDocument/2006/relationships/slide" Target="slides/slide7.xml"/><Relationship Id="rId22" Type="http://schemas.openxmlformats.org/officeDocument/2006/relationships/font" Target="fonts/CenturyGothic-italic.fntdata"/><Relationship Id="rId10" Type="http://schemas.openxmlformats.org/officeDocument/2006/relationships/slide" Target="slides/slide6.xml"/><Relationship Id="rId21" Type="http://schemas.openxmlformats.org/officeDocument/2006/relationships/font" Target="fonts/CenturyGothic-bold.fntdata"/><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font" Target="fonts/CenturyGothic-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uk-U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 type="blank">
  <p:cSld name="BLANK">
    <p:spTree>
      <p:nvGrpSpPr>
        <p:cNvPr id="18" name="Shape 18"/>
        <p:cNvGrpSpPr/>
        <p:nvPr/>
      </p:nvGrpSpPr>
      <p:grpSpPr>
        <a:xfrm>
          <a:off x="0" y="0"/>
          <a:ext cx="0" cy="0"/>
          <a:chOff x="0" y="0"/>
          <a:chExt cx="0" cy="0"/>
        </a:xfrm>
      </p:grpSpPr>
      <p:sp>
        <p:nvSpPr>
          <p:cNvPr id="19" name="Google Shape;19;p17"/>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7"/>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U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і об’єкт" type="obj">
  <p:cSld name="OBJECT">
    <p:spTree>
      <p:nvGrpSpPr>
        <p:cNvPr id="22" name="Shape 22"/>
        <p:cNvGrpSpPr/>
        <p:nvPr/>
      </p:nvGrpSpPr>
      <p:grpSpPr>
        <a:xfrm>
          <a:off x="0" y="0"/>
          <a:ext cx="0" cy="0"/>
          <a:chOff x="0" y="0"/>
          <a:chExt cx="0" cy="0"/>
        </a:xfrm>
      </p:grpSpPr>
      <p:sp>
        <p:nvSpPr>
          <p:cNvPr id="23" name="Google Shape;23;p18"/>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8"/>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25" name="Google Shape;25;p18"/>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U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елементи вмісту" type="twoObj">
  <p:cSld name="TWO_OBJECTS">
    <p:spTree>
      <p:nvGrpSpPr>
        <p:cNvPr id="28" name="Shape 28"/>
        <p:cNvGrpSpPr/>
        <p:nvPr/>
      </p:nvGrpSpPr>
      <p:grpSpPr>
        <a:xfrm>
          <a:off x="0" y="0"/>
          <a:ext cx="0" cy="0"/>
          <a:chOff x="0" y="0"/>
          <a:chExt cx="0" cy="0"/>
        </a:xfrm>
      </p:grpSpPr>
      <p:sp>
        <p:nvSpPr>
          <p:cNvPr id="29" name="Google Shape;29;p19"/>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9"/>
          <p:cNvSpPr txBox="1"/>
          <p:nvPr>
            <p:ph idx="1" type="body"/>
          </p:nvPr>
        </p:nvSpPr>
        <p:spPr>
          <a:xfrm>
            <a:off x="106680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31" name="Google Shape;31;p19"/>
          <p:cNvSpPr txBox="1"/>
          <p:nvPr>
            <p:ph idx="2" type="body"/>
          </p:nvPr>
        </p:nvSpPr>
        <p:spPr>
          <a:xfrm>
            <a:off x="646176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32" name="Google Shape;32;p19"/>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9"/>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9"/>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U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орівняння" type="twoTxTwoObj">
  <p:cSld name="TWO_OBJECTS_WITH_TEXT">
    <p:spTree>
      <p:nvGrpSpPr>
        <p:cNvPr id="35" name="Shape 35"/>
        <p:cNvGrpSpPr/>
        <p:nvPr/>
      </p:nvGrpSpPr>
      <p:grpSpPr>
        <a:xfrm>
          <a:off x="0" y="0"/>
          <a:ext cx="0" cy="0"/>
          <a:chOff x="0" y="0"/>
          <a:chExt cx="0" cy="0"/>
        </a:xfrm>
      </p:grpSpPr>
      <p:sp>
        <p:nvSpPr>
          <p:cNvPr id="36" name="Google Shape;36;p20"/>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0"/>
          <p:cNvSpPr txBox="1"/>
          <p:nvPr>
            <p:ph idx="1" type="body"/>
          </p:nvPr>
        </p:nvSpPr>
        <p:spPr>
          <a:xfrm>
            <a:off x="1069848" y="2074334"/>
            <a:ext cx="466344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0"/>
              </a:spcBef>
              <a:spcAft>
                <a:spcPts val="0"/>
              </a:spcAft>
              <a:buSzPts val="1900"/>
              <a:buNone/>
              <a:defRPr b="1" i="0" sz="1900">
                <a:solidFill>
                  <a:schemeClr val="dk1"/>
                </a:solidFill>
                <a:latin typeface="Century Gothic"/>
                <a:ea typeface="Century Gothic"/>
                <a:cs typeface="Century Gothic"/>
                <a:sym typeface="Century Gothic"/>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38" name="Google Shape;38;p20"/>
          <p:cNvSpPr txBox="1"/>
          <p:nvPr>
            <p:ph idx="2" type="body"/>
          </p:nvPr>
        </p:nvSpPr>
        <p:spPr>
          <a:xfrm>
            <a:off x="1069848" y="2792472"/>
            <a:ext cx="4663440" cy="3163825"/>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39" name="Google Shape;39;p20"/>
          <p:cNvSpPr txBox="1"/>
          <p:nvPr>
            <p:ph idx="3" type="body"/>
          </p:nvPr>
        </p:nvSpPr>
        <p:spPr>
          <a:xfrm>
            <a:off x="6458712" y="2074334"/>
            <a:ext cx="466344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0"/>
              </a:spcBef>
              <a:spcAft>
                <a:spcPts val="0"/>
              </a:spcAft>
              <a:buSzPts val="1900"/>
              <a:buNone/>
              <a:defRPr b="1" sz="1900">
                <a:solidFill>
                  <a:schemeClr val="dk1"/>
                </a:solidFill>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40" name="Google Shape;40;p20"/>
          <p:cNvSpPr txBox="1"/>
          <p:nvPr>
            <p:ph idx="4" type="body"/>
          </p:nvPr>
        </p:nvSpPr>
        <p:spPr>
          <a:xfrm>
            <a:off x="6458712" y="2792471"/>
            <a:ext cx="4663440" cy="3164509"/>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41" name="Google Shape;41;p20"/>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0"/>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U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ий слайд" showMasterSp="0" type="title">
  <p:cSld name="TITLE">
    <p:spTree>
      <p:nvGrpSpPr>
        <p:cNvPr id="44" name="Shape 44"/>
        <p:cNvGrpSpPr/>
        <p:nvPr/>
      </p:nvGrpSpPr>
      <p:grpSpPr>
        <a:xfrm>
          <a:off x="0" y="0"/>
          <a:ext cx="0" cy="0"/>
          <a:chOff x="0" y="0"/>
          <a:chExt cx="0" cy="0"/>
        </a:xfrm>
      </p:grpSpPr>
      <p:sp>
        <p:nvSpPr>
          <p:cNvPr id="45" name="Google Shape;45;p21"/>
          <p:cNvSpPr/>
          <p:nvPr/>
        </p:nvSpPr>
        <p:spPr>
          <a:xfrm>
            <a:off x="0" y="0"/>
            <a:ext cx="12192000" cy="68580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6" name="Google Shape;46;p21"/>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1"/>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1"/>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21"/>
          <p:cNvGrpSpPr/>
          <p:nvPr/>
        </p:nvGrpSpPr>
        <p:grpSpPr>
          <a:xfrm>
            <a:off x="5250180" y="1267730"/>
            <a:ext cx="1691640" cy="615934"/>
            <a:chOff x="5250180" y="1267730"/>
            <a:chExt cx="1691640" cy="615934"/>
          </a:xfrm>
        </p:grpSpPr>
        <p:cxnSp>
          <p:nvCxnSpPr>
            <p:cNvPr id="50" name="Google Shape;50;p21"/>
            <p:cNvCxnSpPr/>
            <p:nvPr/>
          </p:nvCxnSpPr>
          <p:spPr>
            <a:xfrm>
              <a:off x="525018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51" name="Google Shape;51;p21"/>
            <p:cNvCxnSpPr/>
            <p:nvPr/>
          </p:nvCxnSpPr>
          <p:spPr>
            <a:xfrm>
              <a:off x="694182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52" name="Google Shape;52;p21"/>
            <p:cNvCxnSpPr/>
            <p:nvPr/>
          </p:nvCxnSpPr>
          <p:spPr>
            <a:xfrm>
              <a:off x="5250180" y="1883664"/>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53" name="Google Shape;53;p21"/>
          <p:cNvSpPr txBox="1"/>
          <p:nvPr>
            <p:ph type="ctrTitle"/>
          </p:nvPr>
        </p:nvSpPr>
        <p:spPr>
          <a:xfrm>
            <a:off x="1629103" y="2244830"/>
            <a:ext cx="8933796" cy="2437232"/>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262626"/>
              </a:buClr>
              <a:buSzPts val="6800"/>
              <a:buFont typeface="Century Gothic"/>
              <a:buNone/>
              <a:defRPr b="0" sz="6800" cap="none">
                <a:solidFill>
                  <a:srgbClr val="262626"/>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1"/>
          <p:cNvSpPr txBox="1"/>
          <p:nvPr>
            <p:ph idx="1" type="subTitle"/>
          </p:nvPr>
        </p:nvSpPr>
        <p:spPr>
          <a:xfrm>
            <a:off x="1629101" y="4682062"/>
            <a:ext cx="8936846" cy="457201"/>
          </a:xfrm>
          <a:prstGeom prst="rect">
            <a:avLst/>
          </a:prstGeom>
          <a:noFill/>
          <a:ln>
            <a:noFill/>
          </a:ln>
        </p:spPr>
        <p:txBody>
          <a:bodyPr anchorCtr="0" anchor="t" bIns="45700" lIns="91425" spcFirstLastPara="1" rIns="91425" wrap="square" tIns="45700">
            <a:normAutofit/>
          </a:bodyPr>
          <a:lstStyle>
            <a:lvl1pPr lvl="0" algn="ctr">
              <a:lnSpc>
                <a:spcPct val="110000"/>
              </a:lnSpc>
              <a:spcBef>
                <a:spcPts val="0"/>
              </a:spcBef>
              <a:spcAft>
                <a:spcPts val="0"/>
              </a:spcAft>
              <a:buSzPts val="1800"/>
              <a:buNone/>
              <a:defRPr sz="1800">
                <a:solidFill>
                  <a:srgbClr val="0C0C0C"/>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55" name="Google Shape;55;p21"/>
          <p:cNvSpPr txBox="1"/>
          <p:nvPr>
            <p:ph idx="10" type="dt"/>
          </p:nvPr>
        </p:nvSpPr>
        <p:spPr>
          <a:xfrm>
            <a:off x="5318760" y="1341256"/>
            <a:ext cx="1554480" cy="485546"/>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1"/>
          <p:cNvSpPr txBox="1"/>
          <p:nvPr>
            <p:ph idx="11" type="ftr"/>
          </p:nvPr>
        </p:nvSpPr>
        <p:spPr>
          <a:xfrm>
            <a:off x="1629100" y="5177408"/>
            <a:ext cx="5730295"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2" type="sldNum"/>
          </p:nvPr>
        </p:nvSpPr>
        <p:spPr>
          <a:xfrm>
            <a:off x="8606920" y="5177408"/>
            <a:ext cx="1955980" cy="22860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b="0" i="0" sz="800" u="none" cap="none" strike="noStrike">
                <a:solidFill>
                  <a:srgbClr val="262626"/>
                </a:solidFill>
                <a:latin typeface="Century Gothic"/>
                <a:ea typeface="Century Gothic"/>
                <a:cs typeface="Century Gothic"/>
                <a:sym typeface="Century Gothic"/>
              </a:defRPr>
            </a:lvl1pPr>
            <a:lvl2pPr indent="0" lvl="1" marL="0" marR="0" algn="r">
              <a:spcBef>
                <a:spcPts val="0"/>
              </a:spcBef>
              <a:buNone/>
              <a:defRPr b="0" i="0" sz="800" u="none" cap="none" strike="noStrike">
                <a:solidFill>
                  <a:srgbClr val="262626"/>
                </a:solidFill>
                <a:latin typeface="Century Gothic"/>
                <a:ea typeface="Century Gothic"/>
                <a:cs typeface="Century Gothic"/>
                <a:sym typeface="Century Gothic"/>
              </a:defRPr>
            </a:lvl2pPr>
            <a:lvl3pPr indent="0" lvl="2" marL="0" marR="0" algn="r">
              <a:spcBef>
                <a:spcPts val="0"/>
              </a:spcBef>
              <a:buNone/>
              <a:defRPr b="0" i="0" sz="800" u="none" cap="none" strike="noStrike">
                <a:solidFill>
                  <a:srgbClr val="262626"/>
                </a:solidFill>
                <a:latin typeface="Century Gothic"/>
                <a:ea typeface="Century Gothic"/>
                <a:cs typeface="Century Gothic"/>
                <a:sym typeface="Century Gothic"/>
              </a:defRPr>
            </a:lvl3pPr>
            <a:lvl4pPr indent="0" lvl="3" marL="0" marR="0" algn="r">
              <a:spcBef>
                <a:spcPts val="0"/>
              </a:spcBef>
              <a:buNone/>
              <a:defRPr b="0" i="0" sz="800" u="none" cap="none" strike="noStrike">
                <a:solidFill>
                  <a:srgbClr val="262626"/>
                </a:solidFill>
                <a:latin typeface="Century Gothic"/>
                <a:ea typeface="Century Gothic"/>
                <a:cs typeface="Century Gothic"/>
                <a:sym typeface="Century Gothic"/>
              </a:defRPr>
            </a:lvl4pPr>
            <a:lvl5pPr indent="0" lvl="4" marL="0" marR="0" algn="r">
              <a:spcBef>
                <a:spcPts val="0"/>
              </a:spcBef>
              <a:buNone/>
              <a:defRPr b="0" i="0" sz="800" u="none" cap="none" strike="noStrike">
                <a:solidFill>
                  <a:srgbClr val="262626"/>
                </a:solidFill>
                <a:latin typeface="Century Gothic"/>
                <a:ea typeface="Century Gothic"/>
                <a:cs typeface="Century Gothic"/>
                <a:sym typeface="Century Gothic"/>
              </a:defRPr>
            </a:lvl5pPr>
            <a:lvl6pPr indent="0" lvl="5" marL="0" marR="0" algn="r">
              <a:spcBef>
                <a:spcPts val="0"/>
              </a:spcBef>
              <a:buNone/>
              <a:defRPr b="0" i="0" sz="800" u="none" cap="none" strike="noStrike">
                <a:solidFill>
                  <a:srgbClr val="262626"/>
                </a:solidFill>
                <a:latin typeface="Century Gothic"/>
                <a:ea typeface="Century Gothic"/>
                <a:cs typeface="Century Gothic"/>
                <a:sym typeface="Century Gothic"/>
              </a:defRPr>
            </a:lvl6pPr>
            <a:lvl7pPr indent="0" lvl="6" marL="0" marR="0" algn="r">
              <a:spcBef>
                <a:spcPts val="0"/>
              </a:spcBef>
              <a:buNone/>
              <a:defRPr b="0" i="0" sz="800" u="none" cap="none" strike="noStrike">
                <a:solidFill>
                  <a:srgbClr val="262626"/>
                </a:solidFill>
                <a:latin typeface="Century Gothic"/>
                <a:ea typeface="Century Gothic"/>
                <a:cs typeface="Century Gothic"/>
                <a:sym typeface="Century Gothic"/>
              </a:defRPr>
            </a:lvl7pPr>
            <a:lvl8pPr indent="0" lvl="7" marL="0" marR="0" algn="r">
              <a:spcBef>
                <a:spcPts val="0"/>
              </a:spcBef>
              <a:buNone/>
              <a:defRPr b="0" i="0" sz="800" u="none" cap="none" strike="noStrike">
                <a:solidFill>
                  <a:srgbClr val="262626"/>
                </a:solidFill>
                <a:latin typeface="Century Gothic"/>
                <a:ea typeface="Century Gothic"/>
                <a:cs typeface="Century Gothic"/>
                <a:sym typeface="Century Gothic"/>
              </a:defRPr>
            </a:lvl8pPr>
            <a:lvl9pPr indent="0" lvl="8" marL="0" marR="0" algn="r">
              <a:spcBef>
                <a:spcPts val="0"/>
              </a:spcBef>
              <a:buNone/>
              <a:defRPr b="0" i="0" sz="800" u="none" cap="none" strike="noStrike">
                <a:solidFill>
                  <a:srgbClr val="26262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uk-U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озділу" showMasterSp="0" type="secHead">
  <p:cSld name="SECTION_HEADER">
    <p:spTree>
      <p:nvGrpSpPr>
        <p:cNvPr id="58" name="Shape 58"/>
        <p:cNvGrpSpPr/>
        <p:nvPr/>
      </p:nvGrpSpPr>
      <p:grpSpPr>
        <a:xfrm>
          <a:off x="0" y="0"/>
          <a:ext cx="0" cy="0"/>
          <a:chOff x="0" y="0"/>
          <a:chExt cx="0" cy="0"/>
        </a:xfrm>
      </p:grpSpPr>
      <p:sp>
        <p:nvSpPr>
          <p:cNvPr id="59" name="Google Shape;59;p22"/>
          <p:cNvSpPr/>
          <p:nvPr/>
        </p:nvSpPr>
        <p:spPr>
          <a:xfrm>
            <a:off x="0" y="0"/>
            <a:ext cx="12192000" cy="68580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0" name="Google Shape;60;p22"/>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2"/>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2"/>
          <p:cNvSpPr/>
          <p:nvPr/>
        </p:nvSpPr>
        <p:spPr>
          <a:xfrm>
            <a:off x="5135880" y="1267730"/>
            <a:ext cx="1920240" cy="73152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2"/>
          <p:cNvSpPr txBox="1"/>
          <p:nvPr>
            <p:ph type="title"/>
          </p:nvPr>
        </p:nvSpPr>
        <p:spPr>
          <a:xfrm>
            <a:off x="1629156" y="2275165"/>
            <a:ext cx="8933688" cy="2406895"/>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262626"/>
              </a:buClr>
              <a:buSzPts val="6800"/>
              <a:buFont typeface="Century Gothic"/>
              <a:buNone/>
              <a:defRPr sz="6800" cap="none">
                <a:solidFill>
                  <a:srgbClr val="262626"/>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64" name="Google Shape;64;p22"/>
          <p:cNvGrpSpPr/>
          <p:nvPr/>
        </p:nvGrpSpPr>
        <p:grpSpPr>
          <a:xfrm>
            <a:off x="5250180" y="1267730"/>
            <a:ext cx="1691640" cy="615934"/>
            <a:chOff x="5250180" y="1267730"/>
            <a:chExt cx="1691640" cy="615934"/>
          </a:xfrm>
        </p:grpSpPr>
        <p:cxnSp>
          <p:nvCxnSpPr>
            <p:cNvPr id="65" name="Google Shape;65;p22"/>
            <p:cNvCxnSpPr/>
            <p:nvPr/>
          </p:nvCxnSpPr>
          <p:spPr>
            <a:xfrm>
              <a:off x="525018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66" name="Google Shape;66;p22"/>
            <p:cNvCxnSpPr/>
            <p:nvPr/>
          </p:nvCxnSpPr>
          <p:spPr>
            <a:xfrm>
              <a:off x="694182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67" name="Google Shape;67;p22"/>
            <p:cNvCxnSpPr/>
            <p:nvPr/>
          </p:nvCxnSpPr>
          <p:spPr>
            <a:xfrm>
              <a:off x="5250180" y="1883664"/>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68" name="Google Shape;68;p22"/>
          <p:cNvSpPr txBox="1"/>
          <p:nvPr>
            <p:ph idx="1" type="body"/>
          </p:nvPr>
        </p:nvSpPr>
        <p:spPr>
          <a:xfrm>
            <a:off x="1629156" y="4682062"/>
            <a:ext cx="8939784" cy="457200"/>
          </a:xfrm>
          <a:prstGeom prst="rect">
            <a:avLst/>
          </a:prstGeom>
          <a:noFill/>
          <a:ln>
            <a:noFill/>
          </a:ln>
        </p:spPr>
        <p:txBody>
          <a:bodyPr anchorCtr="0" anchor="t" bIns="45700" lIns="91425" spcFirstLastPara="1" rIns="91425" wrap="square" tIns="45700">
            <a:normAutofit/>
          </a:bodyPr>
          <a:lstStyle>
            <a:lvl1pPr indent="-228600" lvl="0" marL="457200" algn="ctr">
              <a:lnSpc>
                <a:spcPct val="110000"/>
              </a:lnSpc>
              <a:spcBef>
                <a:spcPts val="900"/>
              </a:spcBef>
              <a:spcAft>
                <a:spcPts val="0"/>
              </a:spcAft>
              <a:buSzPts val="1800"/>
              <a:buNone/>
              <a:defRPr sz="1800">
                <a:solidFill>
                  <a:srgbClr val="0C0C0C"/>
                </a:solidFill>
              </a:defRPr>
            </a:lvl1pPr>
            <a:lvl2pPr indent="-228600" lvl="1" marL="914400" algn="l">
              <a:lnSpc>
                <a:spcPct val="100000"/>
              </a:lnSpc>
              <a:spcBef>
                <a:spcPts val="500"/>
              </a:spcBef>
              <a:spcAft>
                <a:spcPts val="0"/>
              </a:spcAft>
              <a:buSzPts val="1600"/>
              <a:buNone/>
              <a:defRPr sz="1600">
                <a:solidFill>
                  <a:srgbClr val="888888"/>
                </a:solidFill>
              </a:defRPr>
            </a:lvl2pPr>
            <a:lvl3pPr indent="-228600" lvl="2" marL="1371600" algn="l">
              <a:lnSpc>
                <a:spcPct val="100000"/>
              </a:lnSpc>
              <a:spcBef>
                <a:spcPts val="500"/>
              </a:spcBef>
              <a:spcAft>
                <a:spcPts val="0"/>
              </a:spcAft>
              <a:buSzPts val="1600"/>
              <a:buNone/>
              <a:defRPr sz="1600">
                <a:solidFill>
                  <a:srgbClr val="888888"/>
                </a:solidFill>
              </a:defRPr>
            </a:lvl3pPr>
            <a:lvl4pPr indent="-228600" lvl="3" marL="1828800" algn="l">
              <a:lnSpc>
                <a:spcPct val="100000"/>
              </a:lnSpc>
              <a:spcBef>
                <a:spcPts val="500"/>
              </a:spcBef>
              <a:spcAft>
                <a:spcPts val="0"/>
              </a:spcAft>
              <a:buSzPts val="1400"/>
              <a:buNone/>
              <a:defRPr sz="1400">
                <a:solidFill>
                  <a:srgbClr val="888888"/>
                </a:solidFill>
              </a:defRPr>
            </a:lvl4pPr>
            <a:lvl5pPr indent="-228600" lvl="4" marL="2286000" algn="l">
              <a:lnSpc>
                <a:spcPct val="100000"/>
              </a:lnSpc>
              <a:spcBef>
                <a:spcPts val="500"/>
              </a:spcBef>
              <a:spcAft>
                <a:spcPts val="0"/>
              </a:spcAft>
              <a:buSzPts val="1400"/>
              <a:buNone/>
              <a:defRPr sz="1400">
                <a:solidFill>
                  <a:srgbClr val="888888"/>
                </a:solidFill>
              </a:defRPr>
            </a:lvl5pPr>
            <a:lvl6pPr indent="-228600" lvl="5" marL="2743200" algn="l">
              <a:lnSpc>
                <a:spcPct val="100000"/>
              </a:lnSpc>
              <a:spcBef>
                <a:spcPts val="500"/>
              </a:spcBef>
              <a:spcAft>
                <a:spcPts val="0"/>
              </a:spcAft>
              <a:buSzPts val="1400"/>
              <a:buNone/>
              <a:defRPr sz="1400">
                <a:solidFill>
                  <a:srgbClr val="888888"/>
                </a:solidFill>
              </a:defRPr>
            </a:lvl6pPr>
            <a:lvl7pPr indent="-228600" lvl="6" marL="3200400" algn="l">
              <a:lnSpc>
                <a:spcPct val="100000"/>
              </a:lnSpc>
              <a:spcBef>
                <a:spcPts val="500"/>
              </a:spcBef>
              <a:spcAft>
                <a:spcPts val="0"/>
              </a:spcAft>
              <a:buSzPts val="1400"/>
              <a:buNone/>
              <a:defRPr sz="1400">
                <a:solidFill>
                  <a:srgbClr val="888888"/>
                </a:solidFill>
              </a:defRPr>
            </a:lvl7pPr>
            <a:lvl8pPr indent="-228600" lvl="7" marL="3657600" algn="l">
              <a:lnSpc>
                <a:spcPct val="100000"/>
              </a:lnSpc>
              <a:spcBef>
                <a:spcPts val="500"/>
              </a:spcBef>
              <a:spcAft>
                <a:spcPts val="0"/>
              </a:spcAft>
              <a:buSzPts val="1400"/>
              <a:buNone/>
              <a:defRPr sz="1400">
                <a:solidFill>
                  <a:srgbClr val="888888"/>
                </a:solidFill>
              </a:defRPr>
            </a:lvl8pPr>
            <a:lvl9pPr indent="-228600" lvl="8" marL="4114800" algn="l">
              <a:lnSpc>
                <a:spcPct val="100000"/>
              </a:lnSpc>
              <a:spcBef>
                <a:spcPts val="500"/>
              </a:spcBef>
              <a:spcAft>
                <a:spcPts val="0"/>
              </a:spcAft>
              <a:buSzPts val="1400"/>
              <a:buNone/>
              <a:defRPr sz="1400">
                <a:solidFill>
                  <a:srgbClr val="888888"/>
                </a:solidFill>
              </a:defRPr>
            </a:lvl9pPr>
          </a:lstStyle>
          <a:p/>
        </p:txBody>
      </p:sp>
      <p:sp>
        <p:nvSpPr>
          <p:cNvPr id="69" name="Google Shape;69;p22"/>
          <p:cNvSpPr txBox="1"/>
          <p:nvPr>
            <p:ph idx="10" type="dt"/>
          </p:nvPr>
        </p:nvSpPr>
        <p:spPr>
          <a:xfrm>
            <a:off x="5318760" y="1344502"/>
            <a:ext cx="1554480" cy="498781"/>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2"/>
          <p:cNvSpPr txBox="1"/>
          <p:nvPr>
            <p:ph idx="11" type="ftr"/>
          </p:nvPr>
        </p:nvSpPr>
        <p:spPr>
          <a:xfrm>
            <a:off x="1629157" y="5177408"/>
            <a:ext cx="5660134"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txBox="1"/>
          <p:nvPr>
            <p:ph idx="12" type="sldNum"/>
          </p:nvPr>
        </p:nvSpPr>
        <p:spPr>
          <a:xfrm>
            <a:off x="8604504" y="5177408"/>
            <a:ext cx="1958339" cy="22860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b="0" i="0" sz="800" u="none" cap="none" strike="noStrike">
                <a:solidFill>
                  <a:srgbClr val="262626"/>
                </a:solidFill>
                <a:latin typeface="Century Gothic"/>
                <a:ea typeface="Century Gothic"/>
                <a:cs typeface="Century Gothic"/>
                <a:sym typeface="Century Gothic"/>
              </a:defRPr>
            </a:lvl1pPr>
            <a:lvl2pPr indent="0" lvl="1" marL="0" marR="0" algn="r">
              <a:spcBef>
                <a:spcPts val="0"/>
              </a:spcBef>
              <a:buNone/>
              <a:defRPr b="0" i="0" sz="800" u="none" cap="none" strike="noStrike">
                <a:solidFill>
                  <a:srgbClr val="262626"/>
                </a:solidFill>
                <a:latin typeface="Century Gothic"/>
                <a:ea typeface="Century Gothic"/>
                <a:cs typeface="Century Gothic"/>
                <a:sym typeface="Century Gothic"/>
              </a:defRPr>
            </a:lvl2pPr>
            <a:lvl3pPr indent="0" lvl="2" marL="0" marR="0" algn="r">
              <a:spcBef>
                <a:spcPts val="0"/>
              </a:spcBef>
              <a:buNone/>
              <a:defRPr b="0" i="0" sz="800" u="none" cap="none" strike="noStrike">
                <a:solidFill>
                  <a:srgbClr val="262626"/>
                </a:solidFill>
                <a:latin typeface="Century Gothic"/>
                <a:ea typeface="Century Gothic"/>
                <a:cs typeface="Century Gothic"/>
                <a:sym typeface="Century Gothic"/>
              </a:defRPr>
            </a:lvl3pPr>
            <a:lvl4pPr indent="0" lvl="3" marL="0" marR="0" algn="r">
              <a:spcBef>
                <a:spcPts val="0"/>
              </a:spcBef>
              <a:buNone/>
              <a:defRPr b="0" i="0" sz="800" u="none" cap="none" strike="noStrike">
                <a:solidFill>
                  <a:srgbClr val="262626"/>
                </a:solidFill>
                <a:latin typeface="Century Gothic"/>
                <a:ea typeface="Century Gothic"/>
                <a:cs typeface="Century Gothic"/>
                <a:sym typeface="Century Gothic"/>
              </a:defRPr>
            </a:lvl4pPr>
            <a:lvl5pPr indent="0" lvl="4" marL="0" marR="0" algn="r">
              <a:spcBef>
                <a:spcPts val="0"/>
              </a:spcBef>
              <a:buNone/>
              <a:defRPr b="0" i="0" sz="800" u="none" cap="none" strike="noStrike">
                <a:solidFill>
                  <a:srgbClr val="262626"/>
                </a:solidFill>
                <a:latin typeface="Century Gothic"/>
                <a:ea typeface="Century Gothic"/>
                <a:cs typeface="Century Gothic"/>
                <a:sym typeface="Century Gothic"/>
              </a:defRPr>
            </a:lvl5pPr>
            <a:lvl6pPr indent="0" lvl="5" marL="0" marR="0" algn="r">
              <a:spcBef>
                <a:spcPts val="0"/>
              </a:spcBef>
              <a:buNone/>
              <a:defRPr b="0" i="0" sz="800" u="none" cap="none" strike="noStrike">
                <a:solidFill>
                  <a:srgbClr val="262626"/>
                </a:solidFill>
                <a:latin typeface="Century Gothic"/>
                <a:ea typeface="Century Gothic"/>
                <a:cs typeface="Century Gothic"/>
                <a:sym typeface="Century Gothic"/>
              </a:defRPr>
            </a:lvl6pPr>
            <a:lvl7pPr indent="0" lvl="6" marL="0" marR="0" algn="r">
              <a:spcBef>
                <a:spcPts val="0"/>
              </a:spcBef>
              <a:buNone/>
              <a:defRPr b="0" i="0" sz="800" u="none" cap="none" strike="noStrike">
                <a:solidFill>
                  <a:srgbClr val="262626"/>
                </a:solidFill>
                <a:latin typeface="Century Gothic"/>
                <a:ea typeface="Century Gothic"/>
                <a:cs typeface="Century Gothic"/>
                <a:sym typeface="Century Gothic"/>
              </a:defRPr>
            </a:lvl7pPr>
            <a:lvl8pPr indent="0" lvl="7" marL="0" marR="0" algn="r">
              <a:spcBef>
                <a:spcPts val="0"/>
              </a:spcBef>
              <a:buNone/>
              <a:defRPr b="0" i="0" sz="800" u="none" cap="none" strike="noStrike">
                <a:solidFill>
                  <a:srgbClr val="262626"/>
                </a:solidFill>
                <a:latin typeface="Century Gothic"/>
                <a:ea typeface="Century Gothic"/>
                <a:cs typeface="Century Gothic"/>
                <a:sym typeface="Century Gothic"/>
              </a:defRPr>
            </a:lvl8pPr>
            <a:lvl9pPr indent="0" lvl="8" marL="0" marR="0" algn="r">
              <a:spcBef>
                <a:spcPts val="0"/>
              </a:spcBef>
              <a:buNone/>
              <a:defRPr b="0" i="0" sz="800" u="none" cap="none" strike="noStrike">
                <a:solidFill>
                  <a:srgbClr val="26262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uk-U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Лише заголовок" type="titleOnly">
  <p:cSld name="TITLE_ONLY">
    <p:spTree>
      <p:nvGrpSpPr>
        <p:cNvPr id="72" name="Shape 72"/>
        <p:cNvGrpSpPr/>
        <p:nvPr/>
      </p:nvGrpSpPr>
      <p:grpSpPr>
        <a:xfrm>
          <a:off x="0" y="0"/>
          <a:ext cx="0" cy="0"/>
          <a:chOff x="0" y="0"/>
          <a:chExt cx="0" cy="0"/>
        </a:xfrm>
      </p:grpSpPr>
      <p:sp>
        <p:nvSpPr>
          <p:cNvPr id="73" name="Google Shape;73;p23"/>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3"/>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3"/>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3"/>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U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міст із підписом" showMasterSp="0" type="objTx">
  <p:cSld name="OBJECT_WITH_CAPTION_TEXT">
    <p:spTree>
      <p:nvGrpSpPr>
        <p:cNvPr id="77" name="Shape 77"/>
        <p:cNvGrpSpPr/>
        <p:nvPr/>
      </p:nvGrpSpPr>
      <p:grpSpPr>
        <a:xfrm>
          <a:off x="0" y="0"/>
          <a:ext cx="0" cy="0"/>
          <a:chOff x="0" y="0"/>
          <a:chExt cx="0" cy="0"/>
        </a:xfrm>
      </p:grpSpPr>
      <p:sp>
        <p:nvSpPr>
          <p:cNvPr id="78" name="Google Shape;78;p24"/>
          <p:cNvSpPr/>
          <p:nvPr/>
        </p:nvSpPr>
        <p:spPr>
          <a:xfrm>
            <a:off x="8119870" y="237744"/>
            <a:ext cx="3826596" cy="6382512"/>
          </a:xfrm>
          <a:prstGeom prst="rect">
            <a:avLst/>
          </a:prstGeom>
          <a:solidFill>
            <a:srgbClr val="D8D8D8">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4"/>
          <p:cNvSpPr/>
          <p:nvPr/>
        </p:nvSpPr>
        <p:spPr>
          <a:xfrm>
            <a:off x="8254660" y="374904"/>
            <a:ext cx="3557016"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4"/>
          <p:cNvSpPr txBox="1"/>
          <p:nvPr>
            <p:ph type="title"/>
          </p:nvPr>
        </p:nvSpPr>
        <p:spPr>
          <a:xfrm>
            <a:off x="8458200" y="607392"/>
            <a:ext cx="3161963" cy="164592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Century Gothic"/>
              <a:buNone/>
              <a:defRPr b="0" sz="3200"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4"/>
          <p:cNvSpPr txBox="1"/>
          <p:nvPr>
            <p:ph idx="1" type="body"/>
          </p:nvPr>
        </p:nvSpPr>
        <p:spPr>
          <a:xfrm>
            <a:off x="685800" y="609600"/>
            <a:ext cx="6858000" cy="5334000"/>
          </a:xfrm>
          <a:prstGeom prst="rect">
            <a:avLst/>
          </a:prstGeom>
          <a:noFill/>
          <a:ln>
            <a:noFill/>
          </a:ln>
        </p:spPr>
        <p:txBody>
          <a:bodyPr anchorCtr="0" anchor="t" bIns="45700" lIns="91425" spcFirstLastPara="1" rIns="91425" wrap="square" tIns="45700">
            <a:normAutofit/>
          </a:bodyPr>
          <a:lstStyle>
            <a:lvl1pPr indent="-349250" lvl="0" marL="457200" algn="l">
              <a:lnSpc>
                <a:spcPct val="110000"/>
              </a:lnSpc>
              <a:spcBef>
                <a:spcPts val="900"/>
              </a:spcBef>
              <a:spcAft>
                <a:spcPts val="0"/>
              </a:spcAft>
              <a:buSzPts val="1900"/>
              <a:buChar char="◦"/>
              <a:defRPr sz="19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82" name="Google Shape;82;p24"/>
          <p:cNvSpPr txBox="1"/>
          <p:nvPr>
            <p:ph idx="2" type="body"/>
          </p:nvPr>
        </p:nvSpPr>
        <p:spPr>
          <a:xfrm>
            <a:off x="8458200" y="2336800"/>
            <a:ext cx="3161963" cy="36068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chemeClr val="dk1"/>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83" name="Google Shape;83;p24"/>
          <p:cNvSpPr txBox="1"/>
          <p:nvPr>
            <p:ph idx="10" type="dt"/>
          </p:nvPr>
        </p:nvSpPr>
        <p:spPr>
          <a:xfrm>
            <a:off x="5588000" y="6035040"/>
            <a:ext cx="1955800"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4"/>
          <p:cNvSpPr txBox="1"/>
          <p:nvPr>
            <p:ph idx="11" type="ftr"/>
          </p:nvPr>
        </p:nvSpPr>
        <p:spPr>
          <a:xfrm>
            <a:off x="685801" y="6035040"/>
            <a:ext cx="45847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4"/>
          <p:cNvSpPr txBox="1"/>
          <p:nvPr>
            <p:ph idx="12" type="sldNum"/>
          </p:nvPr>
        </p:nvSpPr>
        <p:spPr>
          <a:xfrm>
            <a:off x="10396728" y="6035040"/>
            <a:ext cx="1223435" cy="36576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b="0" i="0" sz="800" u="none" cap="none" strike="noStrike">
                <a:solidFill>
                  <a:srgbClr val="262626"/>
                </a:solidFill>
                <a:latin typeface="Century Gothic"/>
                <a:ea typeface="Century Gothic"/>
                <a:cs typeface="Century Gothic"/>
                <a:sym typeface="Century Gothic"/>
              </a:defRPr>
            </a:lvl1pPr>
            <a:lvl2pPr indent="0" lvl="1" marL="0" marR="0" algn="r">
              <a:spcBef>
                <a:spcPts val="0"/>
              </a:spcBef>
              <a:buNone/>
              <a:defRPr b="0" i="0" sz="800" u="none" cap="none" strike="noStrike">
                <a:solidFill>
                  <a:srgbClr val="262626"/>
                </a:solidFill>
                <a:latin typeface="Century Gothic"/>
                <a:ea typeface="Century Gothic"/>
                <a:cs typeface="Century Gothic"/>
                <a:sym typeface="Century Gothic"/>
              </a:defRPr>
            </a:lvl2pPr>
            <a:lvl3pPr indent="0" lvl="2" marL="0" marR="0" algn="r">
              <a:spcBef>
                <a:spcPts val="0"/>
              </a:spcBef>
              <a:buNone/>
              <a:defRPr b="0" i="0" sz="800" u="none" cap="none" strike="noStrike">
                <a:solidFill>
                  <a:srgbClr val="262626"/>
                </a:solidFill>
                <a:latin typeface="Century Gothic"/>
                <a:ea typeface="Century Gothic"/>
                <a:cs typeface="Century Gothic"/>
                <a:sym typeface="Century Gothic"/>
              </a:defRPr>
            </a:lvl3pPr>
            <a:lvl4pPr indent="0" lvl="3" marL="0" marR="0" algn="r">
              <a:spcBef>
                <a:spcPts val="0"/>
              </a:spcBef>
              <a:buNone/>
              <a:defRPr b="0" i="0" sz="800" u="none" cap="none" strike="noStrike">
                <a:solidFill>
                  <a:srgbClr val="262626"/>
                </a:solidFill>
                <a:latin typeface="Century Gothic"/>
                <a:ea typeface="Century Gothic"/>
                <a:cs typeface="Century Gothic"/>
                <a:sym typeface="Century Gothic"/>
              </a:defRPr>
            </a:lvl4pPr>
            <a:lvl5pPr indent="0" lvl="4" marL="0" marR="0" algn="r">
              <a:spcBef>
                <a:spcPts val="0"/>
              </a:spcBef>
              <a:buNone/>
              <a:defRPr b="0" i="0" sz="800" u="none" cap="none" strike="noStrike">
                <a:solidFill>
                  <a:srgbClr val="262626"/>
                </a:solidFill>
                <a:latin typeface="Century Gothic"/>
                <a:ea typeface="Century Gothic"/>
                <a:cs typeface="Century Gothic"/>
                <a:sym typeface="Century Gothic"/>
              </a:defRPr>
            </a:lvl5pPr>
            <a:lvl6pPr indent="0" lvl="5" marL="0" marR="0" algn="r">
              <a:spcBef>
                <a:spcPts val="0"/>
              </a:spcBef>
              <a:buNone/>
              <a:defRPr b="0" i="0" sz="800" u="none" cap="none" strike="noStrike">
                <a:solidFill>
                  <a:srgbClr val="262626"/>
                </a:solidFill>
                <a:latin typeface="Century Gothic"/>
                <a:ea typeface="Century Gothic"/>
                <a:cs typeface="Century Gothic"/>
                <a:sym typeface="Century Gothic"/>
              </a:defRPr>
            </a:lvl6pPr>
            <a:lvl7pPr indent="0" lvl="6" marL="0" marR="0" algn="r">
              <a:spcBef>
                <a:spcPts val="0"/>
              </a:spcBef>
              <a:buNone/>
              <a:defRPr b="0" i="0" sz="800" u="none" cap="none" strike="noStrike">
                <a:solidFill>
                  <a:srgbClr val="262626"/>
                </a:solidFill>
                <a:latin typeface="Century Gothic"/>
                <a:ea typeface="Century Gothic"/>
                <a:cs typeface="Century Gothic"/>
                <a:sym typeface="Century Gothic"/>
              </a:defRPr>
            </a:lvl7pPr>
            <a:lvl8pPr indent="0" lvl="7" marL="0" marR="0" algn="r">
              <a:spcBef>
                <a:spcPts val="0"/>
              </a:spcBef>
              <a:buNone/>
              <a:defRPr b="0" i="0" sz="800" u="none" cap="none" strike="noStrike">
                <a:solidFill>
                  <a:srgbClr val="262626"/>
                </a:solidFill>
                <a:latin typeface="Century Gothic"/>
                <a:ea typeface="Century Gothic"/>
                <a:cs typeface="Century Gothic"/>
                <a:sym typeface="Century Gothic"/>
              </a:defRPr>
            </a:lvl8pPr>
            <a:lvl9pPr indent="0" lvl="8" marL="0" marR="0" algn="r">
              <a:spcBef>
                <a:spcPts val="0"/>
              </a:spcBef>
              <a:buNone/>
              <a:defRPr b="0" i="0" sz="800" u="none" cap="none" strike="noStrike">
                <a:solidFill>
                  <a:srgbClr val="262626"/>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uk-U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ображення з підписом" showMasterSp="0" type="picTx">
  <p:cSld name="PICTURE_WITH_CAPTION_TEXT">
    <p:spTree>
      <p:nvGrpSpPr>
        <p:cNvPr id="86" name="Shape 86"/>
        <p:cNvGrpSpPr/>
        <p:nvPr/>
      </p:nvGrpSpPr>
      <p:grpSpPr>
        <a:xfrm>
          <a:off x="0" y="0"/>
          <a:ext cx="0" cy="0"/>
          <a:chOff x="0" y="0"/>
          <a:chExt cx="0" cy="0"/>
        </a:xfrm>
      </p:grpSpPr>
      <p:sp>
        <p:nvSpPr>
          <p:cNvPr id="87" name="Google Shape;87;p25"/>
          <p:cNvSpPr/>
          <p:nvPr/>
        </p:nvSpPr>
        <p:spPr>
          <a:xfrm>
            <a:off x="8119870" y="237744"/>
            <a:ext cx="3826596" cy="6382512"/>
          </a:xfrm>
          <a:prstGeom prst="rect">
            <a:avLst/>
          </a:prstGeom>
          <a:solidFill>
            <a:srgbClr val="D8D8D8">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5"/>
          <p:cNvSpPr/>
          <p:nvPr>
            <p:ph idx="2" type="pic"/>
          </p:nvPr>
        </p:nvSpPr>
        <p:spPr>
          <a:xfrm>
            <a:off x="228599" y="237744"/>
            <a:ext cx="7696201" cy="6382512"/>
          </a:xfrm>
          <a:prstGeom prst="rect">
            <a:avLst/>
          </a:prstGeom>
          <a:solidFill>
            <a:srgbClr val="95C77F"/>
          </a:solidFill>
          <a:ln>
            <a:noFill/>
          </a:ln>
        </p:spPr>
      </p:sp>
      <p:sp>
        <p:nvSpPr>
          <p:cNvPr id="89" name="Google Shape;89;p25"/>
          <p:cNvSpPr txBox="1"/>
          <p:nvPr>
            <p:ph idx="10" type="dt"/>
          </p:nvPr>
        </p:nvSpPr>
        <p:spPr>
          <a:xfrm>
            <a:off x="5662337" y="6035040"/>
            <a:ext cx="2071963"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5"/>
          <p:cNvSpPr txBox="1"/>
          <p:nvPr>
            <p:ph idx="11" type="ftr"/>
          </p:nvPr>
        </p:nvSpPr>
        <p:spPr>
          <a:xfrm>
            <a:off x="612648" y="6035040"/>
            <a:ext cx="4588002"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sz="1000">
                <a:solidFill>
                  <a:srgbClr val="FFFFFF"/>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5"/>
          <p:cNvSpPr txBox="1"/>
          <p:nvPr>
            <p:ph idx="12" type="sldNum"/>
          </p:nvPr>
        </p:nvSpPr>
        <p:spPr>
          <a:xfrm>
            <a:off x="10396728" y="6035040"/>
            <a:ext cx="1225296"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UA"/>
              <a:t>‹#›</a:t>
            </a:fld>
            <a:endParaRPr/>
          </a:p>
        </p:txBody>
      </p:sp>
      <p:sp>
        <p:nvSpPr>
          <p:cNvPr id="92" name="Google Shape;92;p25"/>
          <p:cNvSpPr/>
          <p:nvPr/>
        </p:nvSpPr>
        <p:spPr>
          <a:xfrm>
            <a:off x="8254660" y="374904"/>
            <a:ext cx="3557016"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5"/>
          <p:cNvSpPr txBox="1"/>
          <p:nvPr>
            <p:ph type="title"/>
          </p:nvPr>
        </p:nvSpPr>
        <p:spPr>
          <a:xfrm>
            <a:off x="8477250" y="603504"/>
            <a:ext cx="3144774" cy="164592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3200"/>
              <a:buFont typeface="Century Gothic"/>
              <a:buNone/>
              <a:defRPr b="0" sz="3200">
                <a:solidFill>
                  <a:schemeClr val="dk1"/>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25"/>
          <p:cNvSpPr txBox="1"/>
          <p:nvPr>
            <p:ph idx="1" type="body"/>
          </p:nvPr>
        </p:nvSpPr>
        <p:spPr>
          <a:xfrm>
            <a:off x="8477250" y="2386584"/>
            <a:ext cx="3144774" cy="351129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chemeClr val="dk1"/>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і вертикальний текст" type="vertTx">
  <p:cSld name="VERTICAL_TEXT">
    <p:spTree>
      <p:nvGrpSpPr>
        <p:cNvPr id="95" name="Shape 95"/>
        <p:cNvGrpSpPr/>
        <p:nvPr/>
      </p:nvGrpSpPr>
      <p:grpSpPr>
        <a:xfrm>
          <a:off x="0" y="0"/>
          <a:ext cx="0" cy="0"/>
          <a:chOff x="0" y="0"/>
          <a:chExt cx="0" cy="0"/>
        </a:xfrm>
      </p:grpSpPr>
      <p:sp>
        <p:nvSpPr>
          <p:cNvPr id="96" name="Google Shape;96;p2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6"/>
          <p:cNvSpPr txBox="1"/>
          <p:nvPr>
            <p:ph idx="1" type="body"/>
          </p:nvPr>
        </p:nvSpPr>
        <p:spPr>
          <a:xfrm rot="5400000">
            <a:off x="4171188" y="-1001268"/>
            <a:ext cx="3849624" cy="100584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98" name="Google Shape;98;p26"/>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6"/>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6"/>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U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ий заголовок і текст" type="vertTitleAndTx">
  <p:cSld name="VERTICAL_TITLE_AND_VERTICAL_TEXT">
    <p:spTree>
      <p:nvGrpSpPr>
        <p:cNvPr id="101" name="Shape 101"/>
        <p:cNvGrpSpPr/>
        <p:nvPr/>
      </p:nvGrpSpPr>
      <p:grpSpPr>
        <a:xfrm>
          <a:off x="0" y="0"/>
          <a:ext cx="0" cy="0"/>
          <a:chOff x="0" y="0"/>
          <a:chExt cx="0" cy="0"/>
        </a:xfrm>
      </p:grpSpPr>
      <p:sp>
        <p:nvSpPr>
          <p:cNvPr id="102" name="Google Shape;102;p27"/>
          <p:cNvSpPr txBox="1"/>
          <p:nvPr>
            <p:ph type="title"/>
          </p:nvPr>
        </p:nvSpPr>
        <p:spPr>
          <a:xfrm rot="5400000">
            <a:off x="7543800" y="2209800"/>
            <a:ext cx="5257800" cy="2362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27"/>
          <p:cNvSpPr txBox="1"/>
          <p:nvPr>
            <p:ph idx="1" type="body"/>
          </p:nvPr>
        </p:nvSpPr>
        <p:spPr>
          <a:xfrm rot="5400000">
            <a:off x="2247900" y="-647700"/>
            <a:ext cx="5257800" cy="80772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04" name="Google Shape;104;p27"/>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7"/>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7"/>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U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1" name="Google Shape;11;p16"/>
          <p:cNvSpPr/>
          <p:nvPr/>
        </p:nvSpPr>
        <p:spPr>
          <a:xfrm>
            <a:off x="234696" y="237744"/>
            <a:ext cx="11722608" cy="6382512"/>
          </a:xfrm>
          <a:prstGeom prst="rect">
            <a:avLst/>
          </a:prstGeom>
          <a:solidFill>
            <a:srgbClr val="BFBFB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6"/>
          <p:cNvSpPr/>
          <p:nvPr/>
        </p:nvSpPr>
        <p:spPr>
          <a:xfrm>
            <a:off x="371856" y="374904"/>
            <a:ext cx="11448288" cy="6108192"/>
          </a:xfrm>
          <a:prstGeom prst="rect">
            <a:avLst/>
          </a:prstGeom>
          <a:noFill/>
          <a:ln cap="sq" cmpd="sng" w="9525">
            <a:solidFill>
              <a:srgbClr val="26262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4000"/>
              <a:buFont typeface="Century Gothic"/>
              <a:buNone/>
              <a:defRPr b="0" i="0" sz="4000" u="none" cap="none" strike="noStrike">
                <a:solidFill>
                  <a:srgbClr val="262626"/>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6"/>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23850" lvl="0" marL="457200" marR="0" rtl="0" algn="l">
              <a:lnSpc>
                <a:spcPct val="110000"/>
              </a:lnSpc>
              <a:spcBef>
                <a:spcPts val="900"/>
              </a:spcBef>
              <a:spcAft>
                <a:spcPts val="0"/>
              </a:spcAft>
              <a:buClr>
                <a:srgbClr val="262626"/>
              </a:buClr>
              <a:buSzPts val="1500"/>
              <a:buFont typeface="Garamond"/>
              <a:buChar char="◦"/>
              <a:defRPr b="0" i="0" sz="1500" u="none" cap="none" strike="noStrike">
                <a:solidFill>
                  <a:schemeClr val="dk1"/>
                </a:solidFill>
                <a:latin typeface="Century Gothic"/>
                <a:ea typeface="Century Gothic"/>
                <a:cs typeface="Century Gothic"/>
                <a:sym typeface="Century Gothic"/>
              </a:defRPr>
            </a:lvl1pPr>
            <a:lvl2pPr indent="-311150" lvl="1" marL="914400" marR="0" rtl="0" algn="l">
              <a:lnSpc>
                <a:spcPct val="100000"/>
              </a:lnSpc>
              <a:spcBef>
                <a:spcPts val="500"/>
              </a:spcBef>
              <a:spcAft>
                <a:spcPts val="0"/>
              </a:spcAft>
              <a:buClr>
                <a:srgbClr val="262626"/>
              </a:buClr>
              <a:buSzPts val="1300"/>
              <a:buFont typeface="Garamond"/>
              <a:buChar char="◦"/>
              <a:defRPr b="0" i="0" sz="1300" u="none" cap="none" strike="noStrike">
                <a:solidFill>
                  <a:schemeClr val="dk1"/>
                </a:solidFill>
                <a:latin typeface="Century Gothic"/>
                <a:ea typeface="Century Gothic"/>
                <a:cs typeface="Century Gothic"/>
                <a:sym typeface="Century Gothic"/>
              </a:defRPr>
            </a:lvl2pPr>
            <a:lvl3pPr indent="-304800" lvl="2" marL="1371600" marR="0" rtl="0" algn="l">
              <a:lnSpc>
                <a:spcPct val="100000"/>
              </a:lnSpc>
              <a:spcBef>
                <a:spcPts val="500"/>
              </a:spcBef>
              <a:spcAft>
                <a:spcPts val="0"/>
              </a:spcAft>
              <a:buClr>
                <a:srgbClr val="262626"/>
              </a:buClr>
              <a:buSzPts val="1200"/>
              <a:buFont typeface="Garamond"/>
              <a:buChar char="◦"/>
              <a:defRPr b="0" i="0" sz="1200" u="none" cap="none" strike="noStrike">
                <a:solidFill>
                  <a:schemeClr val="dk1"/>
                </a:solidFill>
                <a:latin typeface="Century Gothic"/>
                <a:ea typeface="Century Gothic"/>
                <a:cs typeface="Century Gothic"/>
                <a:sym typeface="Century Gothic"/>
              </a:defRPr>
            </a:lvl3pPr>
            <a:lvl4pPr indent="-304800" lvl="3" marL="1828800" marR="0" rtl="0" algn="l">
              <a:lnSpc>
                <a:spcPct val="100000"/>
              </a:lnSpc>
              <a:spcBef>
                <a:spcPts val="500"/>
              </a:spcBef>
              <a:spcAft>
                <a:spcPts val="0"/>
              </a:spcAft>
              <a:buClr>
                <a:srgbClr val="262626"/>
              </a:buClr>
              <a:buSzPts val="1200"/>
              <a:buFont typeface="Garamond"/>
              <a:buChar char="◦"/>
              <a:defRPr b="0" i="0" sz="1200" u="none" cap="none" strike="noStrike">
                <a:solidFill>
                  <a:schemeClr val="dk1"/>
                </a:solidFill>
                <a:latin typeface="Century Gothic"/>
                <a:ea typeface="Century Gothic"/>
                <a:cs typeface="Century Gothic"/>
                <a:sym typeface="Century Gothic"/>
              </a:defRPr>
            </a:lvl4pPr>
            <a:lvl5pPr indent="-304800" lvl="4" marL="2286000" marR="0" rtl="0" algn="l">
              <a:lnSpc>
                <a:spcPct val="100000"/>
              </a:lnSpc>
              <a:spcBef>
                <a:spcPts val="500"/>
              </a:spcBef>
              <a:spcAft>
                <a:spcPts val="0"/>
              </a:spcAft>
              <a:buClr>
                <a:srgbClr val="262626"/>
              </a:buClr>
              <a:buSzPts val="1200"/>
              <a:buFont typeface="Garamond"/>
              <a:buChar char="◦"/>
              <a:defRPr b="0" i="0" sz="1200" u="none" cap="none" strike="noStrike">
                <a:solidFill>
                  <a:schemeClr val="dk1"/>
                </a:solidFill>
                <a:latin typeface="Century Gothic"/>
                <a:ea typeface="Century Gothic"/>
                <a:cs typeface="Century Gothic"/>
                <a:sym typeface="Century Gothic"/>
              </a:defRPr>
            </a:lvl5pPr>
            <a:lvl6pPr indent="-317500" lvl="5" marL="27432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9pPr>
          </a:lstStyle>
          <a:p/>
        </p:txBody>
      </p:sp>
      <p:sp>
        <p:nvSpPr>
          <p:cNvPr id="15" name="Google Shape;15;p16"/>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8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6" name="Google Shape;16;p16"/>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7" name="Google Shape;17;p16"/>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800" u="none" cap="none" strike="noStrike">
                <a:solidFill>
                  <a:srgbClr val="3F3F3F"/>
                </a:solidFill>
                <a:latin typeface="Century Gothic"/>
                <a:ea typeface="Century Gothic"/>
                <a:cs typeface="Century Gothic"/>
                <a:sym typeface="Century Gothic"/>
              </a:defRPr>
            </a:lvl1pPr>
            <a:lvl2pPr indent="0" lvl="1" marL="0" marR="0" rtl="0" algn="r">
              <a:spcBef>
                <a:spcPts val="0"/>
              </a:spcBef>
              <a:buNone/>
              <a:defRPr b="0" i="0" sz="800" u="none" cap="none" strike="noStrike">
                <a:solidFill>
                  <a:srgbClr val="3F3F3F"/>
                </a:solidFill>
                <a:latin typeface="Century Gothic"/>
                <a:ea typeface="Century Gothic"/>
                <a:cs typeface="Century Gothic"/>
                <a:sym typeface="Century Gothic"/>
              </a:defRPr>
            </a:lvl2pPr>
            <a:lvl3pPr indent="0" lvl="2" marL="0" marR="0" rtl="0" algn="r">
              <a:spcBef>
                <a:spcPts val="0"/>
              </a:spcBef>
              <a:buNone/>
              <a:defRPr b="0" i="0" sz="800" u="none" cap="none" strike="noStrike">
                <a:solidFill>
                  <a:srgbClr val="3F3F3F"/>
                </a:solidFill>
                <a:latin typeface="Century Gothic"/>
                <a:ea typeface="Century Gothic"/>
                <a:cs typeface="Century Gothic"/>
                <a:sym typeface="Century Gothic"/>
              </a:defRPr>
            </a:lvl3pPr>
            <a:lvl4pPr indent="0" lvl="3" marL="0" marR="0" rtl="0" algn="r">
              <a:spcBef>
                <a:spcPts val="0"/>
              </a:spcBef>
              <a:buNone/>
              <a:defRPr b="0" i="0" sz="800" u="none" cap="none" strike="noStrike">
                <a:solidFill>
                  <a:srgbClr val="3F3F3F"/>
                </a:solidFill>
                <a:latin typeface="Century Gothic"/>
                <a:ea typeface="Century Gothic"/>
                <a:cs typeface="Century Gothic"/>
                <a:sym typeface="Century Gothic"/>
              </a:defRPr>
            </a:lvl4pPr>
            <a:lvl5pPr indent="0" lvl="4" marL="0" marR="0" rtl="0" algn="r">
              <a:spcBef>
                <a:spcPts val="0"/>
              </a:spcBef>
              <a:buNone/>
              <a:defRPr b="0" i="0" sz="800" u="none" cap="none" strike="noStrike">
                <a:solidFill>
                  <a:srgbClr val="3F3F3F"/>
                </a:solidFill>
                <a:latin typeface="Century Gothic"/>
                <a:ea typeface="Century Gothic"/>
                <a:cs typeface="Century Gothic"/>
                <a:sym typeface="Century Gothic"/>
              </a:defRPr>
            </a:lvl5pPr>
            <a:lvl6pPr indent="0" lvl="5" marL="0" marR="0" rtl="0" algn="r">
              <a:spcBef>
                <a:spcPts val="0"/>
              </a:spcBef>
              <a:buNone/>
              <a:defRPr b="0" i="0" sz="800" u="none" cap="none" strike="noStrike">
                <a:solidFill>
                  <a:srgbClr val="3F3F3F"/>
                </a:solidFill>
                <a:latin typeface="Century Gothic"/>
                <a:ea typeface="Century Gothic"/>
                <a:cs typeface="Century Gothic"/>
                <a:sym typeface="Century Gothic"/>
              </a:defRPr>
            </a:lvl6pPr>
            <a:lvl7pPr indent="0" lvl="6" marL="0" marR="0" rtl="0" algn="r">
              <a:spcBef>
                <a:spcPts val="0"/>
              </a:spcBef>
              <a:buNone/>
              <a:defRPr b="0" i="0" sz="800" u="none" cap="none" strike="noStrike">
                <a:solidFill>
                  <a:srgbClr val="3F3F3F"/>
                </a:solidFill>
                <a:latin typeface="Century Gothic"/>
                <a:ea typeface="Century Gothic"/>
                <a:cs typeface="Century Gothic"/>
                <a:sym typeface="Century Gothic"/>
              </a:defRPr>
            </a:lvl7pPr>
            <a:lvl8pPr indent="0" lvl="7" marL="0" marR="0" rtl="0" algn="r">
              <a:spcBef>
                <a:spcPts val="0"/>
              </a:spcBef>
              <a:buNone/>
              <a:defRPr b="0" i="0" sz="800" u="none" cap="none" strike="noStrike">
                <a:solidFill>
                  <a:srgbClr val="3F3F3F"/>
                </a:solidFill>
                <a:latin typeface="Century Gothic"/>
                <a:ea typeface="Century Gothic"/>
                <a:cs typeface="Century Gothic"/>
                <a:sym typeface="Century Gothic"/>
              </a:defRPr>
            </a:lvl8pPr>
            <a:lvl9pPr indent="0" lvl="8" marL="0" marR="0" rtl="0" algn="r">
              <a:spcBef>
                <a:spcPts val="0"/>
              </a:spcBef>
              <a:buNone/>
              <a:defRPr b="0" i="0" sz="800" u="none" cap="none" strike="noStrike">
                <a:solidFill>
                  <a:srgbClr val="3F3F3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uk-U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uk-UA"/>
              <a:t>17.07.2025</a:t>
            </a:r>
            <a:endParaRPr/>
          </a:p>
        </p:txBody>
      </p:sp>
      <p:pic>
        <p:nvPicPr>
          <p:cNvPr descr="Різні розміри флаконів для парфумів" id="112" name="Google Shape;112;p1"/>
          <p:cNvPicPr preferRelativeResize="0"/>
          <p:nvPr/>
        </p:nvPicPr>
        <p:blipFill rotWithShape="1">
          <a:blip r:embed="rId3">
            <a:alphaModFix/>
          </a:blip>
          <a:srcRect b="0" l="0" r="0" t="0"/>
          <a:stretch/>
        </p:blipFill>
        <p:spPr>
          <a:xfrm>
            <a:off x="0" y="-128759"/>
            <a:ext cx="12192000" cy="7115518"/>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784"/>
              </a:srgbClr>
            </a:outerShdw>
          </a:effectLst>
        </p:spPr>
      </p:pic>
      <p:sp>
        <p:nvSpPr>
          <p:cNvPr id="113" name="Google Shape;113;p1"/>
          <p:cNvSpPr txBox="1"/>
          <p:nvPr/>
        </p:nvSpPr>
        <p:spPr>
          <a:xfrm>
            <a:off x="7416925" y="3761025"/>
            <a:ext cx="4775075" cy="1630907"/>
          </a:xfrm>
          <a:prstGeom prst="rect">
            <a:avLst/>
          </a:prstGeom>
          <a:noFill/>
          <a:ln>
            <a:noFill/>
          </a:ln>
        </p:spPr>
        <p:txBody>
          <a:bodyPr anchorCtr="0" anchor="t" bIns="45700" lIns="91425" spcFirstLastPara="1" rIns="91425" wrap="square" tIns="45700">
            <a:normAutofit fontScale="90000" lnSpcReduction="10000"/>
          </a:bodyPr>
          <a:lstStyle/>
          <a:p>
            <a:pPr indent="0" lvl="0" marL="0" marR="0" rtl="0" algn="ctr">
              <a:lnSpc>
                <a:spcPct val="90000"/>
              </a:lnSpc>
              <a:spcBef>
                <a:spcPts val="0"/>
              </a:spcBef>
              <a:spcAft>
                <a:spcPts val="0"/>
              </a:spcAft>
              <a:buClr>
                <a:schemeClr val="lt1"/>
              </a:buClr>
              <a:buSzPct val="100000"/>
              <a:buFont typeface="Century Gothic"/>
              <a:buNone/>
            </a:pPr>
            <a:r>
              <a:rPr b="0" i="0" lang="uk-UA" sz="4400" u="none" cap="none" strike="noStrike">
                <a:solidFill>
                  <a:schemeClr val="lt1"/>
                </a:solidFill>
                <a:latin typeface="Century Gothic"/>
                <a:ea typeface="Century Gothic"/>
                <a:cs typeface="Century Gothic"/>
                <a:sym typeface="Century Gothic"/>
              </a:rPr>
              <a:t>Аналіз продажів парфумерії на   eBay</a:t>
            </a:r>
            <a:endParaRPr b="0" i="0" sz="4400" u="none" cap="none" strike="noStrike">
              <a:solidFill>
                <a:schemeClr val="lt1"/>
              </a:solidFill>
              <a:latin typeface="Century Gothic"/>
              <a:ea typeface="Century Gothic"/>
              <a:cs typeface="Century Gothic"/>
              <a:sym typeface="Century Gothic"/>
            </a:endParaRPr>
          </a:p>
        </p:txBody>
      </p:sp>
      <p:sp>
        <p:nvSpPr>
          <p:cNvPr id="114" name="Google Shape;114;p1"/>
          <p:cNvSpPr txBox="1"/>
          <p:nvPr/>
        </p:nvSpPr>
        <p:spPr>
          <a:xfrm>
            <a:off x="7322843" y="5382393"/>
            <a:ext cx="4775075" cy="559656"/>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Clr>
                <a:srgbClr val="262626"/>
              </a:buClr>
              <a:buSzPts val="1800"/>
              <a:buFont typeface="Garamond"/>
              <a:buNone/>
            </a:pPr>
            <a:r>
              <a:rPr b="0" i="0" lang="uk-UA" sz="1800" u="none" cap="none" strike="noStrike">
                <a:solidFill>
                  <a:schemeClr val="lt1"/>
                </a:solidFill>
                <a:latin typeface="Century Gothic"/>
                <a:ea typeface="Century Gothic"/>
                <a:cs typeface="Century Gothic"/>
                <a:sym typeface="Century Gothic"/>
              </a:rPr>
              <a:t>Красюк Сергій</a:t>
            </a:r>
            <a:endParaRPr/>
          </a:p>
          <a:p>
            <a:pPr indent="-182880" lvl="0" marL="182880" marR="0" rtl="0" algn="ctr">
              <a:lnSpc>
                <a:spcPct val="110000"/>
              </a:lnSpc>
              <a:spcBef>
                <a:spcPts val="1500"/>
              </a:spcBef>
              <a:spcAft>
                <a:spcPts val="0"/>
              </a:spcAft>
              <a:buClr>
                <a:srgbClr val="262626"/>
              </a:buClr>
              <a:buSzPts val="1800"/>
              <a:buFont typeface="Garamond"/>
              <a:buChar char="◦"/>
            </a:pPr>
            <a:r>
              <a:rPr b="0" i="0" lang="uk-UA" sz="1800" u="none" cap="none" strike="noStrike">
                <a:solidFill>
                  <a:schemeClr val="lt1"/>
                </a:solidFill>
                <a:latin typeface="Century Gothic"/>
                <a:ea typeface="Century Gothic"/>
                <a:cs typeface="Century Gothic"/>
                <a:sym typeface="Century Gothic"/>
              </a:rPr>
              <a:t>SQL / Python / Power BI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p2"/>
          <p:cNvSpPr txBox="1"/>
          <p:nvPr>
            <p:ph type="title"/>
          </p:nvPr>
        </p:nvSpPr>
        <p:spPr>
          <a:xfrm>
            <a:off x="1066800" y="626266"/>
            <a:ext cx="10058400" cy="551344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62626"/>
              </a:buClr>
              <a:buSzPts val="1800"/>
              <a:buFont typeface="Century Gothic"/>
              <a:buNone/>
            </a:pPr>
            <a:r>
              <a:rPr b="1" lang="uk-UA" sz="1800"/>
              <a:t>Продуктова проблема :</a:t>
            </a:r>
            <a:br>
              <a:rPr lang="uk-UA" sz="1800"/>
            </a:br>
            <a:r>
              <a:rPr lang="uk-UA" sz="1800"/>
              <a:t>Керівник маркетингового відділу компанії, яка продає парфумерію на eBay,</a:t>
            </a:r>
            <a:br>
              <a:rPr lang="uk-UA" sz="1800"/>
            </a:br>
            <a:r>
              <a:rPr lang="uk-UA" sz="1800"/>
              <a:t>звертає увагу на зниження продажів деяких товарів. Хоча маркетингові кампанії</a:t>
            </a:r>
            <a:br>
              <a:rPr lang="uk-UA" sz="1800"/>
            </a:br>
            <a:r>
              <a:rPr lang="uk-UA" sz="1800"/>
              <a:t>активно проводяться, деякі парфуми не продаються так добре, як очікувалося.</a:t>
            </a:r>
            <a:br>
              <a:rPr lang="uk-UA" sz="1800"/>
            </a:br>
            <a:r>
              <a:rPr lang="uk-UA" sz="1800"/>
              <a:t>Він не знає, які фактори можуть впливати на продажі парфумів: чи це бренди,</a:t>
            </a:r>
            <a:br>
              <a:rPr lang="uk-UA" sz="1800"/>
            </a:br>
            <a:r>
              <a:rPr lang="uk-UA" sz="1800"/>
              <a:t>ціни, наявність або реклама.</a:t>
            </a:r>
            <a:br>
              <a:rPr lang="uk-UA" sz="1800"/>
            </a:br>
            <a:br>
              <a:rPr lang="uk-UA" sz="1800"/>
            </a:br>
            <a:r>
              <a:rPr b="1" lang="uk-UA" sz="1800"/>
              <a:t>Мета аналітика : </a:t>
            </a:r>
            <a:r>
              <a:rPr lang="uk-UA" sz="1800"/>
              <a:t>провести аналіз продажів парфумерії, визначити, які бренди,</a:t>
            </a:r>
            <a:br>
              <a:rPr lang="uk-UA" sz="1800"/>
            </a:br>
            <a:r>
              <a:rPr lang="uk-UA" sz="1800"/>
              <a:t>типи парфумів і цінові категорії продаються найкраще, а також виявити фактори,</a:t>
            </a:r>
            <a:br>
              <a:rPr lang="uk-UA" sz="1800"/>
            </a:br>
            <a:r>
              <a:rPr lang="uk-UA" sz="1800"/>
              <a:t>що можуть впливати на продажі.</a:t>
            </a:r>
            <a:br>
              <a:rPr lang="uk-UA" sz="1800"/>
            </a:br>
            <a:br>
              <a:rPr lang="uk-UA" sz="1800"/>
            </a:br>
            <a:r>
              <a:rPr b="1" lang="uk-UA" sz="1800"/>
              <a:t>Датасети з якими працюємо :</a:t>
            </a:r>
            <a:br>
              <a:rPr b="1" lang="uk-UA" sz="1800"/>
            </a:br>
            <a:r>
              <a:rPr i="1" lang="uk-UA" sz="1600"/>
              <a:t>Ecommerce_base.xlsx</a:t>
            </a:r>
            <a:br>
              <a:rPr lang="uk-UA" sz="1800"/>
            </a:br>
            <a:br>
              <a:rPr lang="uk-UA" sz="1800"/>
            </a:br>
            <a:r>
              <a:rPr b="1" lang="uk-UA" sz="1800"/>
              <a:t>Гіпотези :</a:t>
            </a:r>
            <a:br>
              <a:rPr b="1" lang="uk-UA" sz="1800"/>
            </a:br>
            <a:br>
              <a:rPr lang="uk-UA" sz="1800"/>
            </a:br>
            <a:r>
              <a:rPr b="1" lang="uk-UA" sz="1800"/>
              <a:t>• </a:t>
            </a:r>
            <a:r>
              <a:rPr lang="uk-UA" sz="1800"/>
              <a:t>Класичні бренди продаються краще</a:t>
            </a:r>
            <a:br>
              <a:rPr lang="uk-UA" sz="1800"/>
            </a:br>
            <a:br>
              <a:rPr lang="uk-UA" sz="1800"/>
            </a:br>
            <a:r>
              <a:rPr b="1" lang="uk-UA" sz="1800"/>
              <a:t>• </a:t>
            </a:r>
            <a:r>
              <a:rPr lang="uk-UA" sz="1800"/>
              <a:t>Дорогі парфуми продаються рідше, але приносять більше прибутку</a:t>
            </a:r>
            <a:br>
              <a:rPr lang="uk-UA" sz="1800"/>
            </a:br>
            <a:br>
              <a:rPr lang="uk-UA" sz="1800"/>
            </a:br>
            <a:r>
              <a:rPr b="1" lang="uk-UA" sz="1800"/>
              <a:t>• </a:t>
            </a:r>
            <a:r>
              <a:rPr i="1" lang="uk-UA" sz="1800"/>
              <a:t>Eau de Parfum </a:t>
            </a:r>
            <a:r>
              <a:rPr lang="uk-UA" sz="1800"/>
              <a:t>продаються краще за </a:t>
            </a:r>
            <a:r>
              <a:rPr i="1" lang="uk-UA" sz="1800"/>
              <a:t>Eau de Toilette</a:t>
            </a:r>
            <a:br>
              <a:rPr lang="uk-UA" sz="1800"/>
            </a:b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600"/>
              <a:buFont typeface="Century Gothic"/>
              <a:buNone/>
            </a:pPr>
            <a:r>
              <a:rPr b="1" lang="uk-UA" sz="3600"/>
              <a:t>Етап 1: Підготовка даних. Приведення таблиць в Нормальну Форму</a:t>
            </a:r>
            <a:endParaRPr sz="3600"/>
          </a:p>
        </p:txBody>
      </p:sp>
      <p:sp>
        <p:nvSpPr>
          <p:cNvPr id="125" name="Google Shape;125;p3"/>
          <p:cNvSpPr txBox="1"/>
          <p:nvPr>
            <p:ph idx="1" type="body"/>
          </p:nvPr>
        </p:nvSpPr>
        <p:spPr>
          <a:xfrm>
            <a:off x="1066800" y="2103120"/>
            <a:ext cx="4663440" cy="3749040"/>
          </a:xfrm>
          <a:prstGeom prst="rect">
            <a:avLst/>
          </a:prstGeom>
          <a:noFill/>
          <a:ln>
            <a:noFill/>
          </a:ln>
        </p:spPr>
        <p:txBody>
          <a:bodyPr anchorCtr="0" anchor="t" bIns="45700" lIns="91425" spcFirstLastPara="1" rIns="91425" wrap="square" tIns="45700">
            <a:normAutofit/>
          </a:bodyPr>
          <a:lstStyle/>
          <a:p>
            <a:pPr indent="-182880" lvl="0" marL="182880" rtl="0" algn="l">
              <a:lnSpc>
                <a:spcPct val="110000"/>
              </a:lnSpc>
              <a:spcBef>
                <a:spcPts val="0"/>
              </a:spcBef>
              <a:spcAft>
                <a:spcPts val="0"/>
              </a:spcAft>
              <a:buSzPts val="1800"/>
              <a:buChar char="◦"/>
            </a:pPr>
            <a:r>
              <a:rPr lang="uk-UA"/>
              <a:t>Створення загальний таблиць для чоловічих та жіночих парфумів(SQL).</a:t>
            </a:r>
            <a:endParaRPr/>
          </a:p>
          <a:p>
            <a:pPr indent="0" lvl="0" marL="0" rtl="0" algn="l">
              <a:lnSpc>
                <a:spcPct val="110000"/>
              </a:lnSpc>
              <a:spcBef>
                <a:spcPts val="900"/>
              </a:spcBef>
              <a:spcAft>
                <a:spcPts val="0"/>
              </a:spcAft>
              <a:buSzPts val="1800"/>
              <a:buNone/>
            </a:pPr>
            <a:br>
              <a:rPr lang="uk-UA"/>
            </a:br>
            <a:r>
              <a:rPr lang="uk-UA"/>
              <a:t>При створенні таблиці видалив не потрібний для аналізу стовпець Title та додав Gender.</a:t>
            </a:r>
            <a:endParaRPr/>
          </a:p>
        </p:txBody>
      </p:sp>
      <p:pic>
        <p:nvPicPr>
          <p:cNvPr id="126" name="Google Shape;126;p3"/>
          <p:cNvPicPr preferRelativeResize="0"/>
          <p:nvPr/>
        </p:nvPicPr>
        <p:blipFill rotWithShape="1">
          <a:blip r:embed="rId3">
            <a:alphaModFix/>
          </a:blip>
          <a:srcRect b="0" l="0" r="0" t="0"/>
          <a:stretch/>
        </p:blipFill>
        <p:spPr>
          <a:xfrm>
            <a:off x="6096000" y="2103120"/>
            <a:ext cx="5404704" cy="329686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4"/>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2000"/>
              <a:buFont typeface="Century Gothic"/>
              <a:buNone/>
            </a:pPr>
            <a:r>
              <a:rPr lang="uk-UA" sz="2000"/>
              <a:t>Очищення даних, видалення пустих комірок, символів ,відступів та значень в комірках   "UNBRANDED" та "DOES NOT APPLY". Приведення єдиний регістр.</a:t>
            </a:r>
            <a:endParaRPr/>
          </a:p>
        </p:txBody>
      </p:sp>
      <p:sp>
        <p:nvSpPr>
          <p:cNvPr id="132" name="Google Shape;132;p4"/>
          <p:cNvSpPr txBox="1"/>
          <p:nvPr>
            <p:ph idx="1" type="body"/>
          </p:nvPr>
        </p:nvSpPr>
        <p:spPr>
          <a:xfrm>
            <a:off x="615950" y="2110714"/>
            <a:ext cx="6189994" cy="2740687"/>
          </a:xfrm>
          <a:prstGeom prst="rect">
            <a:avLst/>
          </a:prstGeom>
          <a:noFill/>
          <a:ln>
            <a:noFill/>
          </a:ln>
        </p:spPr>
        <p:txBody>
          <a:bodyPr anchorCtr="0" anchor="t" bIns="45700" lIns="91425" spcFirstLastPara="1" rIns="91425" wrap="square" tIns="45700">
            <a:normAutofit/>
          </a:bodyPr>
          <a:lstStyle/>
          <a:p>
            <a:pPr indent="-182880" lvl="0" marL="182880" rtl="0" algn="l">
              <a:lnSpc>
                <a:spcPct val="110000"/>
              </a:lnSpc>
              <a:spcBef>
                <a:spcPts val="0"/>
              </a:spcBef>
              <a:spcAft>
                <a:spcPts val="0"/>
              </a:spcAft>
              <a:buSzPts val="1800"/>
              <a:buChar char="◦"/>
            </a:pPr>
            <a:r>
              <a:rPr lang="uk-UA"/>
              <a:t>SQL</a:t>
            </a:r>
            <a:endParaRPr/>
          </a:p>
        </p:txBody>
      </p:sp>
      <p:sp>
        <p:nvSpPr>
          <p:cNvPr id="133" name="Google Shape;133;p4"/>
          <p:cNvSpPr txBox="1"/>
          <p:nvPr>
            <p:ph idx="2" type="body"/>
          </p:nvPr>
        </p:nvSpPr>
        <p:spPr>
          <a:xfrm>
            <a:off x="7099093" y="2080208"/>
            <a:ext cx="4378216" cy="3749040"/>
          </a:xfrm>
          <a:prstGeom prst="rect">
            <a:avLst/>
          </a:prstGeom>
          <a:noFill/>
          <a:ln>
            <a:noFill/>
          </a:ln>
        </p:spPr>
        <p:txBody>
          <a:bodyPr anchorCtr="0" anchor="t" bIns="45700" lIns="91425" spcFirstLastPara="1" rIns="91425" wrap="square" tIns="45700">
            <a:normAutofit/>
          </a:bodyPr>
          <a:lstStyle/>
          <a:p>
            <a:pPr indent="-182880" lvl="0" marL="182880" rtl="0" algn="l">
              <a:lnSpc>
                <a:spcPct val="110000"/>
              </a:lnSpc>
              <a:spcBef>
                <a:spcPts val="0"/>
              </a:spcBef>
              <a:spcAft>
                <a:spcPts val="0"/>
              </a:spcAft>
              <a:buSzPts val="1800"/>
              <a:buChar char="◦"/>
            </a:pPr>
            <a:r>
              <a:rPr lang="uk-UA"/>
              <a:t>Python</a:t>
            </a:r>
            <a:endParaRPr/>
          </a:p>
          <a:p>
            <a:pPr indent="-68579" lvl="0" marL="182880" rtl="0" algn="l">
              <a:lnSpc>
                <a:spcPct val="110000"/>
              </a:lnSpc>
              <a:spcBef>
                <a:spcPts val="900"/>
              </a:spcBef>
              <a:spcAft>
                <a:spcPts val="0"/>
              </a:spcAft>
              <a:buSzPts val="1800"/>
              <a:buNone/>
            </a:pPr>
            <a:r>
              <a:t/>
            </a:r>
            <a:endParaRPr/>
          </a:p>
        </p:txBody>
      </p:sp>
      <p:pic>
        <p:nvPicPr>
          <p:cNvPr id="134" name="Google Shape;134;p4"/>
          <p:cNvPicPr preferRelativeResize="0"/>
          <p:nvPr/>
        </p:nvPicPr>
        <p:blipFill rotWithShape="1">
          <a:blip r:embed="rId3">
            <a:alphaModFix/>
          </a:blip>
          <a:srcRect b="0" l="0" r="0" t="0"/>
          <a:stretch/>
        </p:blipFill>
        <p:spPr>
          <a:xfrm>
            <a:off x="615950" y="2627543"/>
            <a:ext cx="6197919" cy="2216264"/>
          </a:xfrm>
          <a:prstGeom prst="rect">
            <a:avLst/>
          </a:prstGeom>
          <a:noFill/>
          <a:ln>
            <a:noFill/>
          </a:ln>
        </p:spPr>
      </p:pic>
      <p:pic>
        <p:nvPicPr>
          <p:cNvPr id="135" name="Google Shape;135;p4"/>
          <p:cNvPicPr preferRelativeResize="0"/>
          <p:nvPr/>
        </p:nvPicPr>
        <p:blipFill rotWithShape="1">
          <a:blip r:embed="rId4">
            <a:alphaModFix/>
          </a:blip>
          <a:srcRect b="0" l="0" r="0" t="0"/>
          <a:stretch/>
        </p:blipFill>
        <p:spPr>
          <a:xfrm>
            <a:off x="7099093" y="2627543"/>
            <a:ext cx="4026107" cy="24575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2000"/>
              <a:buFont typeface="Century Gothic"/>
              <a:buNone/>
            </a:pPr>
            <a:r>
              <a:rPr lang="uk-UA" sz="2000"/>
              <a:t>Приведення стовпчика Type до єдиних значень </a:t>
            </a:r>
            <a:r>
              <a:rPr i="1" lang="uk-UA" sz="2000"/>
              <a:t>Eau de Parfum та Eau de Toilette.</a:t>
            </a:r>
            <a:br>
              <a:rPr lang="uk-UA"/>
            </a:br>
            <a:endParaRPr/>
          </a:p>
        </p:txBody>
      </p:sp>
      <p:sp>
        <p:nvSpPr>
          <p:cNvPr id="141" name="Google Shape;141;p5"/>
          <p:cNvSpPr txBox="1"/>
          <p:nvPr>
            <p:ph idx="1" type="body"/>
          </p:nvPr>
        </p:nvSpPr>
        <p:spPr>
          <a:xfrm>
            <a:off x="749300" y="2103120"/>
            <a:ext cx="5712460" cy="2033941"/>
          </a:xfrm>
          <a:prstGeom prst="rect">
            <a:avLst/>
          </a:prstGeom>
          <a:noFill/>
          <a:ln>
            <a:noFill/>
          </a:ln>
        </p:spPr>
        <p:txBody>
          <a:bodyPr anchorCtr="0" anchor="t" bIns="45700" lIns="91425" spcFirstLastPara="1" rIns="91425" wrap="square" tIns="45700">
            <a:normAutofit/>
          </a:bodyPr>
          <a:lstStyle/>
          <a:p>
            <a:pPr indent="-182880" lvl="0" marL="182880" rtl="0" algn="l">
              <a:lnSpc>
                <a:spcPct val="110000"/>
              </a:lnSpc>
              <a:spcBef>
                <a:spcPts val="0"/>
              </a:spcBef>
              <a:spcAft>
                <a:spcPts val="0"/>
              </a:spcAft>
              <a:buSzPts val="1800"/>
              <a:buChar char="◦"/>
            </a:pPr>
            <a:r>
              <a:rPr lang="uk-UA"/>
              <a:t>SQL</a:t>
            </a:r>
            <a:endParaRPr/>
          </a:p>
          <a:p>
            <a:pPr indent="-68579" lvl="0" marL="182880" rtl="0" algn="l">
              <a:lnSpc>
                <a:spcPct val="110000"/>
              </a:lnSpc>
              <a:spcBef>
                <a:spcPts val="900"/>
              </a:spcBef>
              <a:spcAft>
                <a:spcPts val="0"/>
              </a:spcAft>
              <a:buSzPts val="1800"/>
              <a:buNone/>
            </a:pPr>
            <a:r>
              <a:t/>
            </a:r>
            <a:endParaRPr/>
          </a:p>
        </p:txBody>
      </p:sp>
      <p:sp>
        <p:nvSpPr>
          <p:cNvPr id="142" name="Google Shape;142;p5"/>
          <p:cNvSpPr txBox="1"/>
          <p:nvPr>
            <p:ph idx="2" type="body"/>
          </p:nvPr>
        </p:nvSpPr>
        <p:spPr>
          <a:xfrm>
            <a:off x="6770887" y="2103119"/>
            <a:ext cx="5215890" cy="2033941"/>
          </a:xfrm>
          <a:prstGeom prst="rect">
            <a:avLst/>
          </a:prstGeom>
          <a:noFill/>
          <a:ln>
            <a:noFill/>
          </a:ln>
        </p:spPr>
        <p:txBody>
          <a:bodyPr anchorCtr="0" anchor="t" bIns="45700" lIns="91425" spcFirstLastPara="1" rIns="91425" wrap="square" tIns="45700">
            <a:normAutofit/>
          </a:bodyPr>
          <a:lstStyle/>
          <a:p>
            <a:pPr indent="-182880" lvl="0" marL="182880" rtl="0" algn="l">
              <a:lnSpc>
                <a:spcPct val="110000"/>
              </a:lnSpc>
              <a:spcBef>
                <a:spcPts val="0"/>
              </a:spcBef>
              <a:spcAft>
                <a:spcPts val="0"/>
              </a:spcAft>
              <a:buSzPts val="1800"/>
              <a:buChar char="◦"/>
            </a:pPr>
            <a:r>
              <a:rPr lang="uk-UA"/>
              <a:t>Python</a:t>
            </a:r>
            <a:endParaRPr/>
          </a:p>
        </p:txBody>
      </p:sp>
      <p:pic>
        <p:nvPicPr>
          <p:cNvPr id="143" name="Google Shape;143;p5"/>
          <p:cNvPicPr preferRelativeResize="0"/>
          <p:nvPr/>
        </p:nvPicPr>
        <p:blipFill rotWithShape="1">
          <a:blip r:embed="rId3">
            <a:alphaModFix/>
          </a:blip>
          <a:srcRect b="0" l="0" r="0" t="0"/>
          <a:stretch/>
        </p:blipFill>
        <p:spPr>
          <a:xfrm>
            <a:off x="778218" y="2720938"/>
            <a:ext cx="5683542" cy="1416123"/>
          </a:xfrm>
          <a:prstGeom prst="rect">
            <a:avLst/>
          </a:prstGeom>
          <a:noFill/>
          <a:ln>
            <a:noFill/>
          </a:ln>
        </p:spPr>
      </p:pic>
      <p:pic>
        <p:nvPicPr>
          <p:cNvPr id="144" name="Google Shape;144;p5"/>
          <p:cNvPicPr preferRelativeResize="0"/>
          <p:nvPr/>
        </p:nvPicPr>
        <p:blipFill rotWithShape="1">
          <a:blip r:embed="rId4">
            <a:alphaModFix/>
          </a:blip>
          <a:srcRect b="0" l="0" r="0" t="0"/>
          <a:stretch/>
        </p:blipFill>
        <p:spPr>
          <a:xfrm>
            <a:off x="6770887" y="2720937"/>
            <a:ext cx="4597636" cy="14161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6"/>
          <p:cNvSpPr txBox="1"/>
          <p:nvPr>
            <p:ph type="title"/>
          </p:nvPr>
        </p:nvSpPr>
        <p:spPr>
          <a:xfrm>
            <a:off x="1066800" y="642594"/>
            <a:ext cx="10058400" cy="79251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000"/>
              <a:buFont typeface="Century Gothic"/>
              <a:buNone/>
            </a:pPr>
            <a:r>
              <a:rPr b="1" lang="uk-UA"/>
              <a:t>Етап 2 : Аналіз даних</a:t>
            </a:r>
            <a:endParaRPr/>
          </a:p>
        </p:txBody>
      </p:sp>
      <p:sp>
        <p:nvSpPr>
          <p:cNvPr id="150" name="Google Shape;150;p6"/>
          <p:cNvSpPr txBox="1"/>
          <p:nvPr>
            <p:ph idx="2" type="body"/>
          </p:nvPr>
        </p:nvSpPr>
        <p:spPr>
          <a:xfrm>
            <a:off x="2451100" y="1955810"/>
            <a:ext cx="7581900" cy="294638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000"/>
              <a:buNone/>
            </a:pPr>
            <a:r>
              <a:rPr lang="uk-UA" sz="2000"/>
              <a:t>Перевірка </a:t>
            </a:r>
            <a:r>
              <a:rPr b="1" lang="uk-UA" sz="2000"/>
              <a:t>Гіпотези : </a:t>
            </a:r>
            <a:r>
              <a:rPr lang="uk-UA" sz="2000"/>
              <a:t>Класичні бренди продаються краще (за допомогою запитів SQL).</a:t>
            </a:r>
            <a:endParaRPr/>
          </a:p>
          <a:p>
            <a:pPr indent="0" lvl="0" marL="0" rtl="0" algn="l">
              <a:lnSpc>
                <a:spcPct val="110000"/>
              </a:lnSpc>
              <a:spcBef>
                <a:spcPts val="900"/>
              </a:spcBef>
              <a:spcAft>
                <a:spcPts val="0"/>
              </a:spcAft>
              <a:buSzPts val="1800"/>
              <a:buNone/>
            </a:pPr>
            <a:r>
              <a:t/>
            </a:r>
            <a:endParaRPr/>
          </a:p>
          <a:p>
            <a:pPr indent="0" lvl="0" marL="0" rtl="0" algn="l">
              <a:lnSpc>
                <a:spcPct val="110000"/>
              </a:lnSpc>
              <a:spcBef>
                <a:spcPts val="900"/>
              </a:spcBef>
              <a:spcAft>
                <a:spcPts val="0"/>
              </a:spcAft>
              <a:buSzPts val="1800"/>
              <a:buNone/>
            </a:pPr>
            <a:r>
              <a:rPr i="1" lang="uk-UA"/>
              <a:t>Загальна мета порахувати:</a:t>
            </a:r>
            <a:endParaRPr/>
          </a:p>
          <a:p>
            <a:pPr indent="-182880" lvl="1" marL="457200" rtl="0" algn="l">
              <a:lnSpc>
                <a:spcPct val="100000"/>
              </a:lnSpc>
              <a:spcBef>
                <a:spcPts val="500"/>
              </a:spcBef>
              <a:spcAft>
                <a:spcPts val="0"/>
              </a:spcAft>
              <a:buSzPts val="1600"/>
              <a:buChar char="◦"/>
            </a:pPr>
            <a:r>
              <a:rPr lang="uk-UA"/>
              <a:t>Скільки чоловічих брендів у кожному типі (CLASSIC / OTHER)</a:t>
            </a:r>
            <a:endParaRPr/>
          </a:p>
          <a:p>
            <a:pPr indent="-182880" lvl="1" marL="457200" rtl="0" algn="l">
              <a:lnSpc>
                <a:spcPct val="100000"/>
              </a:lnSpc>
              <a:spcBef>
                <a:spcPts val="500"/>
              </a:spcBef>
              <a:spcAft>
                <a:spcPts val="0"/>
              </a:spcAft>
              <a:buSzPts val="1600"/>
              <a:buChar char="◦"/>
            </a:pPr>
            <a:r>
              <a:rPr lang="uk-UA"/>
              <a:t>Загальну кількість проданих одиниць</a:t>
            </a:r>
            <a:endParaRPr/>
          </a:p>
          <a:p>
            <a:pPr indent="-182880" lvl="1" marL="457200" rtl="0" algn="l">
              <a:lnSpc>
                <a:spcPct val="100000"/>
              </a:lnSpc>
              <a:spcBef>
                <a:spcPts val="500"/>
              </a:spcBef>
              <a:spcAft>
                <a:spcPts val="0"/>
              </a:spcAft>
              <a:buSzPts val="1600"/>
              <a:buChar char="◦"/>
            </a:pPr>
            <a:r>
              <a:rPr lang="uk-UA"/>
              <a:t>Середній продаж на 1 бренд</a:t>
            </a:r>
            <a:endParaRPr/>
          </a:p>
          <a:p>
            <a:pPr indent="0" lvl="0" marL="0" rtl="0" algn="l">
              <a:lnSpc>
                <a:spcPct val="110000"/>
              </a:lnSpc>
              <a:spcBef>
                <a:spcPts val="900"/>
              </a:spcBef>
              <a:spcAft>
                <a:spcPts val="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txBox="1"/>
          <p:nvPr>
            <p:ph idx="1" type="body"/>
          </p:nvPr>
        </p:nvSpPr>
        <p:spPr>
          <a:xfrm>
            <a:off x="438150" y="1746250"/>
            <a:ext cx="4663440" cy="1517650"/>
          </a:xfrm>
          <a:prstGeom prst="rect">
            <a:avLst/>
          </a:prstGeom>
          <a:noFill/>
          <a:ln>
            <a:noFill/>
          </a:ln>
        </p:spPr>
        <p:txBody>
          <a:bodyPr anchorCtr="0" anchor="t" bIns="45700" lIns="91425" spcFirstLastPara="1" rIns="91425" wrap="square" tIns="45700">
            <a:normAutofit fontScale="92500" lnSpcReduction="20000"/>
          </a:bodyPr>
          <a:lstStyle/>
          <a:p>
            <a:pPr indent="-182880" lvl="0" marL="182880" rtl="0" algn="l">
              <a:lnSpc>
                <a:spcPct val="110000"/>
              </a:lnSpc>
              <a:spcBef>
                <a:spcPts val="0"/>
              </a:spcBef>
              <a:spcAft>
                <a:spcPts val="0"/>
              </a:spcAft>
              <a:buSzPct val="100000"/>
              <a:buChar char="◦"/>
            </a:pPr>
            <a:r>
              <a:rPr lang="uk-UA"/>
              <a:t>Запит </a:t>
            </a:r>
            <a:r>
              <a:rPr b="1" i="1" lang="uk-UA"/>
              <a:t>М</a:t>
            </a:r>
            <a:endParaRPr/>
          </a:p>
          <a:p>
            <a:pPr indent="0" lvl="0" marL="0" rtl="0" algn="l">
              <a:lnSpc>
                <a:spcPct val="110000"/>
              </a:lnSpc>
              <a:spcBef>
                <a:spcPts val="900"/>
              </a:spcBef>
              <a:spcAft>
                <a:spcPts val="0"/>
              </a:spcAft>
              <a:buSzPct val="100000"/>
              <a:buNone/>
            </a:pPr>
            <a:r>
              <a:rPr lang="uk-UA" sz="1300"/>
              <a:t>- До попередньої транзакції додаються дані про кількість одиниць(наявність).</a:t>
            </a:r>
            <a:endParaRPr/>
          </a:p>
          <a:p>
            <a:pPr indent="0" lvl="0" marL="0" rtl="0" algn="l">
              <a:lnSpc>
                <a:spcPct val="110000"/>
              </a:lnSpc>
              <a:spcBef>
                <a:spcPts val="900"/>
              </a:spcBef>
              <a:spcAft>
                <a:spcPts val="0"/>
              </a:spcAft>
              <a:buSzPct val="100000"/>
              <a:buNone/>
            </a:pPr>
            <a:r>
              <a:rPr lang="uk-UA" sz="1300"/>
              <a:t>- COALESCE (B.SOLD,0) замін</a:t>
            </a:r>
            <a:r>
              <a:rPr lang="uk-UA" sz="1400"/>
              <a:t> Brand </a:t>
            </a:r>
            <a:r>
              <a:rPr lang="uk-UA" sz="1300"/>
              <a:t> NULL на 0 </a:t>
            </a:r>
            <a:endParaRPr/>
          </a:p>
          <a:p>
            <a:pPr indent="0" lvl="0" marL="0" rtl="0" algn="l">
              <a:lnSpc>
                <a:spcPct val="110000"/>
              </a:lnSpc>
              <a:spcBef>
                <a:spcPts val="900"/>
              </a:spcBef>
              <a:spcAft>
                <a:spcPts val="0"/>
              </a:spcAft>
              <a:buSzPct val="100000"/>
              <a:buNone/>
            </a:pPr>
            <a:r>
              <a:rPr lang="uk-UA" sz="1300"/>
              <a:t>- Групування йде по Brand та рахується сумарний продаж(TOTAL SOLD).</a:t>
            </a:r>
            <a:endParaRPr/>
          </a:p>
          <a:p>
            <a:pPr indent="0" lvl="0" marL="0" rtl="0" algn="l">
              <a:lnSpc>
                <a:spcPct val="110000"/>
              </a:lnSpc>
              <a:spcBef>
                <a:spcPts val="900"/>
              </a:spcBef>
              <a:spcAft>
                <a:spcPts val="0"/>
              </a:spcAft>
              <a:buSzPct val="100000"/>
              <a:buNone/>
            </a:pPr>
            <a:r>
              <a:t/>
            </a:r>
            <a:endParaRPr sz="1200"/>
          </a:p>
          <a:p>
            <a:pPr indent="0" lvl="0" marL="0" rtl="0" algn="l">
              <a:lnSpc>
                <a:spcPct val="110000"/>
              </a:lnSpc>
              <a:spcBef>
                <a:spcPts val="900"/>
              </a:spcBef>
              <a:spcAft>
                <a:spcPts val="0"/>
              </a:spcAft>
              <a:buSzPct val="100000"/>
              <a:buNone/>
            </a:pPr>
            <a:r>
              <a:t/>
            </a:r>
            <a:endParaRPr sz="1200"/>
          </a:p>
        </p:txBody>
      </p:sp>
      <p:sp>
        <p:nvSpPr>
          <p:cNvPr id="156" name="Google Shape;156;p7"/>
          <p:cNvSpPr txBox="1"/>
          <p:nvPr/>
        </p:nvSpPr>
        <p:spPr>
          <a:xfrm>
            <a:off x="438150" y="412749"/>
            <a:ext cx="4663440" cy="1333501"/>
          </a:xfrm>
          <a:prstGeom prst="rect">
            <a:avLst/>
          </a:prstGeom>
          <a:noFill/>
          <a:ln>
            <a:noFill/>
          </a:ln>
        </p:spPr>
        <p:txBody>
          <a:bodyPr anchorCtr="0" anchor="t" bIns="45700" lIns="91425" spcFirstLastPara="1" rIns="91425" wrap="square" tIns="45700">
            <a:normAutofit lnSpcReduction="10000"/>
          </a:bodyPr>
          <a:lstStyle/>
          <a:p>
            <a:pPr indent="-182880" lvl="0" marL="182880" marR="0" rtl="0" algn="l">
              <a:lnSpc>
                <a:spcPct val="110000"/>
              </a:lnSpc>
              <a:spcBef>
                <a:spcPts val="0"/>
              </a:spcBef>
              <a:spcAft>
                <a:spcPts val="0"/>
              </a:spcAft>
              <a:buClr>
                <a:srgbClr val="262626"/>
              </a:buClr>
              <a:buSzPts val="1800"/>
              <a:buFont typeface="Garamond"/>
              <a:buChar char="◦"/>
            </a:pPr>
            <a:r>
              <a:rPr b="0" i="0" lang="uk-UA" sz="1800" u="none" cap="none" strike="noStrike">
                <a:solidFill>
                  <a:schemeClr val="dk1"/>
                </a:solidFill>
                <a:latin typeface="Century Gothic"/>
                <a:ea typeface="Century Gothic"/>
                <a:cs typeface="Century Gothic"/>
                <a:sym typeface="Century Gothic"/>
              </a:rPr>
              <a:t>Запит </a:t>
            </a:r>
            <a:r>
              <a:rPr b="1" i="1" lang="uk-UA" sz="1800" u="none" cap="none" strike="noStrike">
                <a:solidFill>
                  <a:schemeClr val="dk1"/>
                </a:solidFill>
                <a:latin typeface="Century Gothic"/>
                <a:ea typeface="Century Gothic"/>
                <a:cs typeface="Century Gothic"/>
                <a:sym typeface="Century Gothic"/>
              </a:rPr>
              <a:t>А</a:t>
            </a:r>
            <a:endParaRPr/>
          </a:p>
          <a:p>
            <a:pPr indent="0" lvl="0" marL="0" marR="0" rtl="0" algn="l">
              <a:lnSpc>
                <a:spcPct val="110000"/>
              </a:lnSpc>
              <a:spcBef>
                <a:spcPts val="900"/>
              </a:spcBef>
              <a:spcAft>
                <a:spcPts val="0"/>
              </a:spcAft>
              <a:buClr>
                <a:srgbClr val="262626"/>
              </a:buClr>
              <a:buSzPts val="1200"/>
              <a:buFont typeface="Garamond"/>
              <a:buNone/>
            </a:pPr>
            <a:r>
              <a:rPr b="0" i="0" lang="uk-UA" sz="1200" u="none" cap="none" strike="noStrike">
                <a:solidFill>
                  <a:schemeClr val="dk1"/>
                </a:solidFill>
                <a:latin typeface="Century Gothic"/>
                <a:ea typeface="Century Gothic"/>
                <a:cs typeface="Century Gothic"/>
                <a:sym typeface="Century Gothic"/>
              </a:rPr>
              <a:t>- Фільтрує парфуми </a:t>
            </a:r>
            <a:r>
              <a:rPr b="1" i="0" lang="uk-UA" sz="1200" u="none" cap="none" strike="noStrike">
                <a:solidFill>
                  <a:schemeClr val="dk1"/>
                </a:solidFill>
                <a:latin typeface="Century Gothic"/>
                <a:ea typeface="Century Gothic"/>
                <a:cs typeface="Century Gothic"/>
                <a:sym typeface="Century Gothic"/>
              </a:rPr>
              <a:t>для чоловіків</a:t>
            </a:r>
            <a:r>
              <a:rPr b="0" i="0" lang="uk-UA" sz="1200" u="none" cap="none" strike="noStrike">
                <a:solidFill>
                  <a:schemeClr val="dk1"/>
                </a:solidFill>
                <a:latin typeface="Century Gothic"/>
                <a:ea typeface="Century Gothic"/>
                <a:cs typeface="Century Gothic"/>
                <a:sym typeface="Century Gothic"/>
              </a:rPr>
              <a:t>. </a:t>
            </a:r>
            <a:endParaRPr/>
          </a:p>
          <a:p>
            <a:pPr indent="0" lvl="0" marL="0" marR="0" rtl="0" algn="l">
              <a:lnSpc>
                <a:spcPct val="110000"/>
              </a:lnSpc>
              <a:spcBef>
                <a:spcPts val="900"/>
              </a:spcBef>
              <a:spcAft>
                <a:spcPts val="0"/>
              </a:spcAft>
              <a:buClr>
                <a:srgbClr val="262626"/>
              </a:buClr>
              <a:buSzPts val="1200"/>
              <a:buFont typeface="Garamond"/>
              <a:buNone/>
            </a:pPr>
            <a:r>
              <a:rPr b="0" i="0" lang="uk-UA" sz="1200" u="none" cap="none" strike="noStrike">
                <a:solidFill>
                  <a:schemeClr val="dk1"/>
                </a:solidFill>
                <a:latin typeface="Century Gothic"/>
                <a:ea typeface="Century Gothic"/>
                <a:cs typeface="Century Gothic"/>
                <a:sym typeface="Century Gothic"/>
              </a:rPr>
              <a:t>- Об’єднує базову таблицю з таблицею цін parfume_price.</a:t>
            </a:r>
            <a:endParaRPr/>
          </a:p>
          <a:p>
            <a:pPr indent="0" lvl="0" marL="0" marR="0" rtl="0" algn="l">
              <a:lnSpc>
                <a:spcPct val="110000"/>
              </a:lnSpc>
              <a:spcBef>
                <a:spcPts val="900"/>
              </a:spcBef>
              <a:spcAft>
                <a:spcPts val="0"/>
              </a:spcAft>
              <a:buClr>
                <a:srgbClr val="262626"/>
              </a:buClr>
              <a:buSzPts val="1200"/>
              <a:buFont typeface="Garamond"/>
              <a:buNone/>
            </a:pPr>
            <a:r>
              <a:rPr b="0" i="0" lang="uk-UA" sz="1200" u="none" cap="none" strike="noStrike">
                <a:solidFill>
                  <a:schemeClr val="dk1"/>
                </a:solidFill>
                <a:latin typeface="Century Gothic"/>
                <a:ea typeface="Century Gothic"/>
                <a:cs typeface="Century Gothic"/>
                <a:sym typeface="Century Gothic"/>
              </a:rPr>
              <a:t>- Повертає список Brand , Transaction_id.</a:t>
            </a:r>
            <a:endParaRPr/>
          </a:p>
          <a:p>
            <a:pPr indent="0" lvl="0" marL="0" marR="0" rtl="0" algn="l">
              <a:lnSpc>
                <a:spcPct val="110000"/>
              </a:lnSpc>
              <a:spcBef>
                <a:spcPts val="900"/>
              </a:spcBef>
              <a:spcAft>
                <a:spcPts val="0"/>
              </a:spcAft>
              <a:buClr>
                <a:srgbClr val="262626"/>
              </a:buClr>
              <a:buSzPts val="1200"/>
              <a:buFont typeface="Garamond"/>
              <a:buNone/>
            </a:pPr>
            <a:r>
              <a:t/>
            </a:r>
            <a:endParaRPr b="0" i="0" sz="1200" u="none" cap="none" strike="noStrike">
              <a:solidFill>
                <a:schemeClr val="dk1"/>
              </a:solidFill>
              <a:latin typeface="Century Gothic"/>
              <a:ea typeface="Century Gothic"/>
              <a:cs typeface="Century Gothic"/>
              <a:sym typeface="Century Gothic"/>
            </a:endParaRPr>
          </a:p>
        </p:txBody>
      </p:sp>
      <p:sp>
        <p:nvSpPr>
          <p:cNvPr id="157" name="Google Shape;157;p7"/>
          <p:cNvSpPr txBox="1"/>
          <p:nvPr/>
        </p:nvSpPr>
        <p:spPr>
          <a:xfrm>
            <a:off x="438149" y="3263900"/>
            <a:ext cx="4663440" cy="910590"/>
          </a:xfrm>
          <a:prstGeom prst="rect">
            <a:avLst/>
          </a:prstGeom>
          <a:noFill/>
          <a:ln>
            <a:noFill/>
          </a:ln>
        </p:spPr>
        <p:txBody>
          <a:bodyPr anchorCtr="0" anchor="t" bIns="45700" lIns="91425" spcFirstLastPara="1" rIns="91425" wrap="square" tIns="45700">
            <a:normAutofit/>
          </a:bodyPr>
          <a:lstStyle/>
          <a:p>
            <a:pPr indent="-182880" lvl="0" marL="182880" marR="0" rtl="0" algn="l">
              <a:lnSpc>
                <a:spcPct val="110000"/>
              </a:lnSpc>
              <a:spcBef>
                <a:spcPts val="0"/>
              </a:spcBef>
              <a:spcAft>
                <a:spcPts val="0"/>
              </a:spcAft>
              <a:buClr>
                <a:srgbClr val="262626"/>
              </a:buClr>
              <a:buSzPts val="1800"/>
              <a:buFont typeface="Garamond"/>
              <a:buChar char="◦"/>
            </a:pPr>
            <a:r>
              <a:rPr b="0" i="0" lang="uk-UA" sz="1800" u="none" cap="none" strike="noStrike">
                <a:solidFill>
                  <a:schemeClr val="dk1"/>
                </a:solidFill>
                <a:latin typeface="Century Gothic"/>
                <a:ea typeface="Century Gothic"/>
                <a:cs typeface="Century Gothic"/>
                <a:sym typeface="Century Gothic"/>
              </a:rPr>
              <a:t>Запит </a:t>
            </a:r>
            <a:r>
              <a:rPr b="1" i="1" lang="uk-UA" sz="1800" u="none" cap="none" strike="noStrike">
                <a:solidFill>
                  <a:schemeClr val="dk1"/>
                </a:solidFill>
                <a:latin typeface="Century Gothic"/>
                <a:ea typeface="Century Gothic"/>
                <a:cs typeface="Century Gothic"/>
                <a:sym typeface="Century Gothic"/>
              </a:rPr>
              <a:t>С</a:t>
            </a:r>
            <a:endParaRPr/>
          </a:p>
          <a:p>
            <a:pPr indent="0" lvl="0" marL="0" marR="0" rtl="0" algn="l">
              <a:lnSpc>
                <a:spcPct val="110000"/>
              </a:lnSpc>
              <a:spcBef>
                <a:spcPts val="900"/>
              </a:spcBef>
              <a:spcAft>
                <a:spcPts val="0"/>
              </a:spcAft>
              <a:buClr>
                <a:srgbClr val="262626"/>
              </a:buClr>
              <a:buSzPts val="1200"/>
              <a:buFont typeface="Garamond"/>
              <a:buNone/>
            </a:pPr>
            <a:r>
              <a:rPr b="0" i="0" lang="uk-UA" sz="1200" u="none" cap="none" strike="noStrike">
                <a:solidFill>
                  <a:schemeClr val="dk1"/>
                </a:solidFill>
                <a:latin typeface="Century Gothic"/>
                <a:ea typeface="Century Gothic"/>
                <a:cs typeface="Century Gothic"/>
                <a:sym typeface="Century Gothic"/>
              </a:rPr>
              <a:t>- Створюється список з Classic брендів (7шт) </a:t>
            </a:r>
            <a:endParaRPr/>
          </a:p>
          <a:p>
            <a:pPr indent="0" lvl="0" marL="0" marR="0" rtl="0" algn="l">
              <a:lnSpc>
                <a:spcPct val="110000"/>
              </a:lnSpc>
              <a:spcBef>
                <a:spcPts val="900"/>
              </a:spcBef>
              <a:spcAft>
                <a:spcPts val="0"/>
              </a:spcAft>
              <a:buClr>
                <a:srgbClr val="262626"/>
              </a:buClr>
              <a:buSzPts val="1200"/>
              <a:buFont typeface="Garamond"/>
              <a:buNone/>
            </a:pPr>
            <a:r>
              <a:t/>
            </a:r>
            <a:endParaRPr b="0" i="0" sz="1200" u="none" cap="none" strike="noStrike">
              <a:solidFill>
                <a:schemeClr val="dk1"/>
              </a:solidFill>
              <a:latin typeface="Century Gothic"/>
              <a:ea typeface="Century Gothic"/>
              <a:cs typeface="Century Gothic"/>
              <a:sym typeface="Century Gothic"/>
            </a:endParaRPr>
          </a:p>
        </p:txBody>
      </p:sp>
      <p:sp>
        <p:nvSpPr>
          <p:cNvPr id="158" name="Google Shape;158;p7"/>
          <p:cNvSpPr txBox="1"/>
          <p:nvPr/>
        </p:nvSpPr>
        <p:spPr>
          <a:xfrm>
            <a:off x="438149" y="4174490"/>
            <a:ext cx="4663440" cy="910590"/>
          </a:xfrm>
          <a:prstGeom prst="rect">
            <a:avLst/>
          </a:prstGeom>
          <a:noFill/>
          <a:ln>
            <a:noFill/>
          </a:ln>
        </p:spPr>
        <p:txBody>
          <a:bodyPr anchorCtr="0" anchor="t" bIns="45700" lIns="91425" spcFirstLastPara="1" rIns="91425" wrap="square" tIns="45700">
            <a:normAutofit/>
          </a:bodyPr>
          <a:lstStyle/>
          <a:p>
            <a:pPr indent="-182880" lvl="0" marL="182880" marR="0" rtl="0" algn="l">
              <a:lnSpc>
                <a:spcPct val="110000"/>
              </a:lnSpc>
              <a:spcBef>
                <a:spcPts val="0"/>
              </a:spcBef>
              <a:spcAft>
                <a:spcPts val="0"/>
              </a:spcAft>
              <a:buClr>
                <a:srgbClr val="262626"/>
              </a:buClr>
              <a:buSzPts val="1800"/>
              <a:buFont typeface="Garamond"/>
              <a:buChar char="◦"/>
            </a:pPr>
            <a:r>
              <a:rPr b="0" i="0" lang="uk-UA" sz="1800" u="none" cap="none" strike="noStrike">
                <a:solidFill>
                  <a:schemeClr val="dk1"/>
                </a:solidFill>
                <a:latin typeface="Century Gothic"/>
                <a:ea typeface="Century Gothic"/>
                <a:cs typeface="Century Gothic"/>
                <a:sym typeface="Century Gothic"/>
              </a:rPr>
              <a:t>Запит </a:t>
            </a:r>
            <a:r>
              <a:rPr b="1" i="1" lang="uk-UA" sz="1800" u="none" cap="none" strike="noStrike">
                <a:solidFill>
                  <a:schemeClr val="dk1"/>
                </a:solidFill>
                <a:latin typeface="Century Gothic"/>
                <a:ea typeface="Century Gothic"/>
                <a:cs typeface="Century Gothic"/>
                <a:sym typeface="Century Gothic"/>
              </a:rPr>
              <a:t>FINAL</a:t>
            </a:r>
            <a:endParaRPr b="1" i="1" sz="1800" u="none" cap="none" strike="noStrike">
              <a:solidFill>
                <a:schemeClr val="dk1"/>
              </a:solidFill>
              <a:latin typeface="Century Gothic"/>
              <a:ea typeface="Century Gothic"/>
              <a:cs typeface="Century Gothic"/>
              <a:sym typeface="Century Gothic"/>
            </a:endParaRPr>
          </a:p>
          <a:p>
            <a:pPr indent="0" lvl="0" marL="0" marR="0" rtl="0" algn="l">
              <a:lnSpc>
                <a:spcPct val="110000"/>
              </a:lnSpc>
              <a:spcBef>
                <a:spcPts val="900"/>
              </a:spcBef>
              <a:spcAft>
                <a:spcPts val="0"/>
              </a:spcAft>
              <a:buClr>
                <a:srgbClr val="262626"/>
              </a:buClr>
              <a:buSzPts val="1200"/>
              <a:buFont typeface="Garamond"/>
              <a:buNone/>
            </a:pPr>
            <a:r>
              <a:rPr b="0" i="0" lang="uk-UA" sz="1200" u="none" cap="none" strike="noStrike">
                <a:solidFill>
                  <a:schemeClr val="dk1"/>
                </a:solidFill>
                <a:latin typeface="Century Gothic"/>
                <a:ea typeface="Century Gothic"/>
                <a:cs typeface="Century Gothic"/>
                <a:sym typeface="Century Gothic"/>
              </a:rPr>
              <a:t>- Об`єднуємо запити М та С . Якщо бренд знайдений у списку С він стає CLASSIC, інакше — OTHER.</a:t>
            </a:r>
            <a:endParaRPr b="0" i="0" sz="1200" u="none" cap="none" strike="noStrike">
              <a:solidFill>
                <a:schemeClr val="dk1"/>
              </a:solidFill>
              <a:latin typeface="Century Gothic"/>
              <a:ea typeface="Century Gothic"/>
              <a:cs typeface="Century Gothic"/>
              <a:sym typeface="Century Gothic"/>
            </a:endParaRPr>
          </a:p>
          <a:p>
            <a:pPr indent="0" lvl="0" marL="0" marR="0" rtl="0" algn="l">
              <a:lnSpc>
                <a:spcPct val="110000"/>
              </a:lnSpc>
              <a:spcBef>
                <a:spcPts val="900"/>
              </a:spcBef>
              <a:spcAft>
                <a:spcPts val="0"/>
              </a:spcAft>
              <a:buClr>
                <a:srgbClr val="262626"/>
              </a:buClr>
              <a:buSzPts val="1200"/>
              <a:buFont typeface="Garamond"/>
              <a:buNone/>
            </a:pPr>
            <a:r>
              <a:t/>
            </a:r>
            <a:endParaRPr b="0" i="0" sz="1200" u="none" cap="none" strike="noStrike">
              <a:solidFill>
                <a:schemeClr val="dk1"/>
              </a:solidFill>
              <a:latin typeface="Century Gothic"/>
              <a:ea typeface="Century Gothic"/>
              <a:cs typeface="Century Gothic"/>
              <a:sym typeface="Century Gothic"/>
            </a:endParaRPr>
          </a:p>
        </p:txBody>
      </p:sp>
      <p:pic>
        <p:nvPicPr>
          <p:cNvPr id="159" name="Google Shape;159;p7"/>
          <p:cNvPicPr preferRelativeResize="0"/>
          <p:nvPr>
            <p:ph idx="2" type="body"/>
          </p:nvPr>
        </p:nvPicPr>
        <p:blipFill rotWithShape="1">
          <a:blip r:embed="rId3">
            <a:alphaModFix/>
          </a:blip>
          <a:srcRect b="0" l="0" r="0" t="0"/>
          <a:stretch/>
        </p:blipFill>
        <p:spPr>
          <a:xfrm>
            <a:off x="7090412" y="665162"/>
            <a:ext cx="3847480" cy="5197475"/>
          </a:xfrm>
          <a:prstGeom prst="rect">
            <a:avLst/>
          </a:prstGeom>
          <a:noFill/>
          <a:ln>
            <a:noFill/>
          </a:ln>
        </p:spPr>
      </p:pic>
      <p:sp>
        <p:nvSpPr>
          <p:cNvPr id="160" name="Google Shape;160;p7"/>
          <p:cNvSpPr txBox="1"/>
          <p:nvPr/>
        </p:nvSpPr>
        <p:spPr>
          <a:xfrm>
            <a:off x="438149" y="5236845"/>
            <a:ext cx="4663440" cy="1208406"/>
          </a:xfrm>
          <a:prstGeom prst="rect">
            <a:avLst/>
          </a:prstGeom>
          <a:noFill/>
          <a:ln>
            <a:noFill/>
          </a:ln>
        </p:spPr>
        <p:txBody>
          <a:bodyPr anchorCtr="0" anchor="t" bIns="45700" lIns="91425" spcFirstLastPara="1" rIns="91425" wrap="square" tIns="45700">
            <a:normAutofit/>
          </a:bodyPr>
          <a:lstStyle/>
          <a:p>
            <a:pPr indent="-182880" lvl="0" marL="182880" marR="0" rtl="0" algn="l">
              <a:lnSpc>
                <a:spcPct val="110000"/>
              </a:lnSpc>
              <a:spcBef>
                <a:spcPts val="0"/>
              </a:spcBef>
              <a:spcAft>
                <a:spcPts val="0"/>
              </a:spcAft>
              <a:buClr>
                <a:srgbClr val="262626"/>
              </a:buClr>
              <a:buSzPts val="1800"/>
              <a:buFont typeface="Garamond"/>
              <a:buChar char="◦"/>
            </a:pPr>
            <a:r>
              <a:rPr b="0" i="0" lang="uk-UA" sz="1800" u="none" cap="none" strike="noStrike">
                <a:solidFill>
                  <a:schemeClr val="dk1"/>
                </a:solidFill>
                <a:latin typeface="Century Gothic"/>
                <a:ea typeface="Century Gothic"/>
                <a:cs typeface="Century Gothic"/>
                <a:sym typeface="Century Gothic"/>
              </a:rPr>
              <a:t>Загальний запит </a:t>
            </a:r>
            <a:endParaRPr/>
          </a:p>
          <a:p>
            <a:pPr indent="0" lvl="0" marL="0" marR="0" rtl="0" algn="l">
              <a:lnSpc>
                <a:spcPct val="110000"/>
              </a:lnSpc>
              <a:spcBef>
                <a:spcPts val="900"/>
              </a:spcBef>
              <a:spcAft>
                <a:spcPts val="0"/>
              </a:spcAft>
              <a:buClr>
                <a:srgbClr val="262626"/>
              </a:buClr>
              <a:buSzPts val="1200"/>
              <a:buFont typeface="Garamond"/>
              <a:buNone/>
            </a:pPr>
            <a:r>
              <a:rPr b="0" i="0" lang="uk-UA" sz="1200" u="none" cap="none" strike="noStrike">
                <a:solidFill>
                  <a:schemeClr val="dk1"/>
                </a:solidFill>
                <a:latin typeface="Century Gothic"/>
                <a:ea typeface="Century Gothic"/>
                <a:cs typeface="Century Gothic"/>
                <a:sym typeface="Century Gothic"/>
              </a:rPr>
              <a:t>- Підсумовує дані по типу бренду CLASSIC та OTHER.</a:t>
            </a:r>
            <a:endParaRPr b="0" i="0" sz="1200" u="none" cap="none" strike="noStrike">
              <a:solidFill>
                <a:schemeClr val="dk1"/>
              </a:solidFill>
              <a:latin typeface="Century Gothic"/>
              <a:ea typeface="Century Gothic"/>
              <a:cs typeface="Century Gothic"/>
              <a:sym typeface="Century Gothic"/>
            </a:endParaRPr>
          </a:p>
          <a:p>
            <a:pPr indent="0" lvl="0" marL="0" marR="0" rtl="0" algn="l">
              <a:lnSpc>
                <a:spcPct val="110000"/>
              </a:lnSpc>
              <a:spcBef>
                <a:spcPts val="900"/>
              </a:spcBef>
              <a:spcAft>
                <a:spcPts val="0"/>
              </a:spcAft>
              <a:buClr>
                <a:srgbClr val="262626"/>
              </a:buClr>
              <a:buSzPts val="1200"/>
              <a:buFont typeface="Garamond"/>
              <a:buNone/>
            </a:pPr>
            <a:r>
              <a:t/>
            </a:r>
            <a:endParaRPr b="0" i="0" sz="12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8"/>
          <p:cNvSpPr txBox="1"/>
          <p:nvPr>
            <p:ph idx="1" type="body"/>
          </p:nvPr>
        </p:nvSpPr>
        <p:spPr>
          <a:xfrm>
            <a:off x="520700" y="617220"/>
            <a:ext cx="6851985" cy="1924812"/>
          </a:xfrm>
          <a:prstGeom prst="rect">
            <a:avLst/>
          </a:prstGeom>
          <a:noFill/>
          <a:ln>
            <a:noFill/>
          </a:ln>
        </p:spPr>
        <p:txBody>
          <a:bodyPr anchorCtr="0" anchor="t" bIns="45700" lIns="91425" spcFirstLastPara="1" rIns="91425" wrap="square" tIns="45700">
            <a:normAutofit/>
          </a:bodyPr>
          <a:lstStyle/>
          <a:p>
            <a:pPr indent="-87629" lvl="0" marL="182880" rtl="0" algn="l">
              <a:lnSpc>
                <a:spcPct val="110000"/>
              </a:lnSpc>
              <a:spcBef>
                <a:spcPts val="0"/>
              </a:spcBef>
              <a:spcAft>
                <a:spcPts val="0"/>
              </a:spcAft>
              <a:buSzPts val="1500"/>
              <a:buNone/>
            </a:pPr>
            <a:r>
              <a:t/>
            </a:r>
            <a:endParaRPr/>
          </a:p>
          <a:p>
            <a:pPr indent="-182880" lvl="1" marL="457200" rtl="0" algn="l">
              <a:lnSpc>
                <a:spcPct val="100000"/>
              </a:lnSpc>
              <a:spcBef>
                <a:spcPts val="500"/>
              </a:spcBef>
              <a:spcAft>
                <a:spcPts val="0"/>
              </a:spcAft>
              <a:buSzPts val="1200"/>
              <a:buChar char="◦"/>
            </a:pPr>
            <a:r>
              <a:rPr b="1" lang="uk-UA" sz="1200"/>
              <a:t>BRAND_COUNT</a:t>
            </a:r>
            <a:r>
              <a:rPr lang="uk-UA" sz="1200"/>
              <a:t> — скільки брендів у кожному типі</a:t>
            </a:r>
            <a:endParaRPr/>
          </a:p>
          <a:p>
            <a:pPr indent="-182880" lvl="1" marL="457200" rtl="0" algn="l">
              <a:lnSpc>
                <a:spcPct val="100000"/>
              </a:lnSpc>
              <a:spcBef>
                <a:spcPts val="500"/>
              </a:spcBef>
              <a:spcAft>
                <a:spcPts val="0"/>
              </a:spcAft>
              <a:buSzPts val="1200"/>
              <a:buChar char="◦"/>
            </a:pPr>
            <a:r>
              <a:rPr b="1" lang="uk-UA" sz="1200"/>
              <a:t>TOTAL_SOLD_UNITS</a:t>
            </a:r>
            <a:r>
              <a:rPr lang="uk-UA" sz="1200"/>
              <a:t> — загальний продаж у кожному типі</a:t>
            </a:r>
            <a:endParaRPr/>
          </a:p>
          <a:p>
            <a:pPr indent="-182880" lvl="1" marL="457200" rtl="0" algn="l">
              <a:lnSpc>
                <a:spcPct val="100000"/>
              </a:lnSpc>
              <a:spcBef>
                <a:spcPts val="500"/>
              </a:spcBef>
              <a:spcAft>
                <a:spcPts val="0"/>
              </a:spcAft>
              <a:buSzPts val="1200"/>
              <a:buChar char="◦"/>
            </a:pPr>
            <a:r>
              <a:rPr b="1" lang="uk-UA" sz="1200"/>
              <a:t>AVG_SOLD_PER_BRAND</a:t>
            </a:r>
            <a:r>
              <a:rPr lang="uk-UA" sz="1200"/>
              <a:t> — середній продаж на один бренд у групі</a:t>
            </a:r>
            <a:endParaRPr/>
          </a:p>
          <a:p>
            <a:pPr indent="-87629" lvl="0" marL="182880" rtl="0" algn="l">
              <a:lnSpc>
                <a:spcPct val="110000"/>
              </a:lnSpc>
              <a:spcBef>
                <a:spcPts val="900"/>
              </a:spcBef>
              <a:spcAft>
                <a:spcPts val="0"/>
              </a:spcAft>
              <a:buSzPts val="1500"/>
              <a:buNone/>
            </a:pPr>
            <a:r>
              <a:t/>
            </a:r>
            <a:endParaRPr/>
          </a:p>
        </p:txBody>
      </p:sp>
      <p:pic>
        <p:nvPicPr>
          <p:cNvPr id="166" name="Google Shape;166;p8"/>
          <p:cNvPicPr preferRelativeResize="0"/>
          <p:nvPr/>
        </p:nvPicPr>
        <p:blipFill rotWithShape="1">
          <a:blip r:embed="rId3">
            <a:alphaModFix/>
          </a:blip>
          <a:srcRect b="0" l="0" r="0" t="0"/>
          <a:stretch/>
        </p:blipFill>
        <p:spPr>
          <a:xfrm>
            <a:off x="901699" y="2542032"/>
            <a:ext cx="6521785" cy="654084"/>
          </a:xfrm>
          <a:prstGeom prst="rect">
            <a:avLst/>
          </a:prstGeom>
          <a:noFill/>
          <a:ln>
            <a:noFill/>
          </a:ln>
        </p:spPr>
      </p:pic>
      <p:sp>
        <p:nvSpPr>
          <p:cNvPr id="167" name="Google Shape;167;p8"/>
          <p:cNvSpPr txBox="1"/>
          <p:nvPr/>
        </p:nvSpPr>
        <p:spPr>
          <a:xfrm>
            <a:off x="571499" y="3653172"/>
            <a:ext cx="6851985" cy="1924812"/>
          </a:xfrm>
          <a:prstGeom prst="rect">
            <a:avLst/>
          </a:prstGeom>
          <a:noFill/>
          <a:ln>
            <a:noFill/>
          </a:ln>
        </p:spPr>
        <p:txBody>
          <a:bodyPr anchorCtr="0" anchor="t" bIns="45700" lIns="91425" spcFirstLastPara="1" rIns="91425" wrap="square" tIns="45700">
            <a:normAutofit/>
          </a:bodyPr>
          <a:lstStyle/>
          <a:p>
            <a:pPr indent="0" lvl="1" marL="274320" marR="0" rtl="0" algn="l">
              <a:lnSpc>
                <a:spcPct val="100000"/>
              </a:lnSpc>
              <a:spcBef>
                <a:spcPts val="0"/>
              </a:spcBef>
              <a:spcAft>
                <a:spcPts val="0"/>
              </a:spcAft>
              <a:buClr>
                <a:srgbClr val="262626"/>
              </a:buClr>
              <a:buSzPts val="1300"/>
              <a:buFont typeface="Garamond"/>
              <a:buNone/>
            </a:pPr>
            <a:r>
              <a:t/>
            </a:r>
            <a:endParaRPr b="0" i="0" sz="1300" u="none" cap="none" strike="noStrike">
              <a:solidFill>
                <a:schemeClr val="dk1"/>
              </a:solidFill>
              <a:latin typeface="Century Gothic"/>
              <a:ea typeface="Century Gothic"/>
              <a:cs typeface="Century Gothic"/>
              <a:sym typeface="Century Gothic"/>
            </a:endParaRPr>
          </a:p>
          <a:p>
            <a:pPr indent="0" lvl="1" marL="274320" marR="0" rtl="0" algn="l">
              <a:lnSpc>
                <a:spcPct val="100000"/>
              </a:lnSpc>
              <a:spcBef>
                <a:spcPts val="500"/>
              </a:spcBef>
              <a:spcAft>
                <a:spcPts val="0"/>
              </a:spcAft>
              <a:buClr>
                <a:srgbClr val="262626"/>
              </a:buClr>
              <a:buSzPts val="1200"/>
              <a:buFont typeface="Garamond"/>
              <a:buNone/>
            </a:pPr>
            <a:r>
              <a:rPr b="1" i="0" lang="uk-UA" sz="1200" u="none" cap="none" strike="noStrike">
                <a:solidFill>
                  <a:schemeClr val="dk1"/>
                </a:solidFill>
                <a:latin typeface="Century Gothic"/>
                <a:ea typeface="Century Gothic"/>
                <a:cs typeface="Century Gothic"/>
                <a:sym typeface="Century Gothic"/>
              </a:rPr>
              <a:t>Висновок : </a:t>
            </a:r>
            <a:r>
              <a:rPr b="0" i="0" lang="uk-UA" sz="1200" u="none" cap="none" strike="noStrike">
                <a:solidFill>
                  <a:schemeClr val="dk1"/>
                </a:solidFill>
                <a:latin typeface="Century Gothic"/>
                <a:ea typeface="Century Gothic"/>
                <a:cs typeface="Century Gothic"/>
                <a:sym typeface="Century Gothic"/>
              </a:rPr>
              <a:t>CLASSIC  бренди продаються в менший кількості, але мають у 15 разів вищий середній продаж на бренд  ніж у OTHER.  </a:t>
            </a:r>
            <a:endParaRPr/>
          </a:p>
          <a:p>
            <a:pPr indent="0" lvl="1" marL="274320" marR="0" rtl="0" algn="l">
              <a:lnSpc>
                <a:spcPct val="100000"/>
              </a:lnSpc>
              <a:spcBef>
                <a:spcPts val="500"/>
              </a:spcBef>
              <a:spcAft>
                <a:spcPts val="0"/>
              </a:spcAft>
              <a:buClr>
                <a:srgbClr val="262626"/>
              </a:buClr>
              <a:buSzPts val="1200"/>
              <a:buFont typeface="Garamond"/>
              <a:buNone/>
            </a:pPr>
            <a:r>
              <a:rPr b="0" i="0" lang="uk-UA" sz="1200" u="none" cap="none" strike="noStrike">
                <a:solidFill>
                  <a:schemeClr val="dk1"/>
                </a:solidFill>
                <a:latin typeface="Century Gothic"/>
                <a:ea typeface="Century Gothic"/>
                <a:cs typeface="Century Gothic"/>
                <a:sym typeface="Century Gothic"/>
              </a:rPr>
              <a:t>Гіпотеза “Класичні бренди продаються краще” є вірною — і вона підтверджується даними.  </a:t>
            </a:r>
            <a:endParaRPr/>
          </a:p>
          <a:p>
            <a:pPr indent="-87629" lvl="0" marL="182880" marR="0" rtl="0" algn="l">
              <a:lnSpc>
                <a:spcPct val="110000"/>
              </a:lnSpc>
              <a:spcBef>
                <a:spcPts val="900"/>
              </a:spcBef>
              <a:spcAft>
                <a:spcPts val="0"/>
              </a:spcAft>
              <a:buClr>
                <a:srgbClr val="262626"/>
              </a:buClr>
              <a:buSzPts val="1500"/>
              <a:buFont typeface="Garamond"/>
              <a:buNone/>
            </a:pPr>
            <a:r>
              <a:t/>
            </a:r>
            <a:endParaRPr b="0" i="0" sz="15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ph idx="2" type="body"/>
          </p:nvPr>
        </p:nvSpPr>
        <p:spPr>
          <a:xfrm>
            <a:off x="2451100" y="1955810"/>
            <a:ext cx="7581900" cy="294638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0000"/>
              </a:lnSpc>
              <a:spcBef>
                <a:spcPts val="0"/>
              </a:spcBef>
              <a:spcAft>
                <a:spcPts val="0"/>
              </a:spcAft>
              <a:buSzPts val="2000"/>
              <a:buNone/>
            </a:pPr>
            <a:r>
              <a:rPr lang="uk-UA" sz="2000"/>
              <a:t>Перевірка </a:t>
            </a:r>
            <a:r>
              <a:rPr b="1" lang="uk-UA" sz="2000"/>
              <a:t>Гіпотези : </a:t>
            </a:r>
            <a:r>
              <a:rPr lang="uk-UA" sz="2000"/>
              <a:t>Дорогі парфуми продаються рідше, але приносять більше прибутку(за допомогою запитів SQL).</a:t>
            </a:r>
            <a:endParaRPr/>
          </a:p>
          <a:p>
            <a:pPr indent="0" lvl="0" marL="0" rtl="0" algn="l">
              <a:lnSpc>
                <a:spcPct val="110000"/>
              </a:lnSpc>
              <a:spcBef>
                <a:spcPts val="900"/>
              </a:spcBef>
              <a:spcAft>
                <a:spcPts val="0"/>
              </a:spcAft>
              <a:buSzPts val="1800"/>
              <a:buNone/>
            </a:pPr>
            <a:r>
              <a:t/>
            </a:r>
            <a:endParaRPr/>
          </a:p>
          <a:p>
            <a:pPr indent="0" lvl="0" marL="0" rtl="0" algn="l">
              <a:lnSpc>
                <a:spcPct val="110000"/>
              </a:lnSpc>
              <a:spcBef>
                <a:spcPts val="900"/>
              </a:spcBef>
              <a:spcAft>
                <a:spcPts val="0"/>
              </a:spcAft>
              <a:buSzPts val="1800"/>
              <a:buNone/>
            </a:pPr>
            <a:r>
              <a:rPr i="1" lang="uk-UA"/>
              <a:t>Загальна мета порахувати:</a:t>
            </a:r>
            <a:endParaRPr/>
          </a:p>
          <a:p>
            <a:pPr indent="-182880" lvl="1" marL="457200" rtl="0" algn="l">
              <a:lnSpc>
                <a:spcPct val="100000"/>
              </a:lnSpc>
              <a:spcBef>
                <a:spcPts val="500"/>
              </a:spcBef>
              <a:spcAft>
                <a:spcPts val="0"/>
              </a:spcAft>
              <a:buSzPts val="1600"/>
              <a:buChar char="◦"/>
            </a:pPr>
            <a:r>
              <a:rPr lang="uk-UA"/>
              <a:t>Визначити поріг ціни на основі медіани. побудувати категорії </a:t>
            </a:r>
            <a:r>
              <a:rPr i="1" lang="uk-UA"/>
              <a:t>Cheap</a:t>
            </a:r>
            <a:r>
              <a:rPr lang="uk-UA"/>
              <a:t> та  </a:t>
            </a:r>
            <a:r>
              <a:rPr i="1" lang="uk-UA"/>
              <a:t>Expensive</a:t>
            </a:r>
            <a:endParaRPr/>
          </a:p>
          <a:p>
            <a:pPr indent="-182880" lvl="1" marL="457200" rtl="0" algn="l">
              <a:lnSpc>
                <a:spcPct val="100000"/>
              </a:lnSpc>
              <a:spcBef>
                <a:spcPts val="500"/>
              </a:spcBef>
              <a:spcAft>
                <a:spcPts val="0"/>
              </a:spcAft>
              <a:buSzPts val="1600"/>
              <a:buChar char="◦"/>
            </a:pPr>
            <a:r>
              <a:rPr lang="uk-UA"/>
              <a:t> Обчислив кількість товарів, середній прибуток за одиницю, загальні продажі та сумарний дохід по категоріях.</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txBox="1"/>
          <p:nvPr>
            <p:ph idx="1" type="body"/>
          </p:nvPr>
        </p:nvSpPr>
        <p:spPr>
          <a:xfrm>
            <a:off x="6994475" y="1218926"/>
            <a:ext cx="4102311" cy="64008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10000"/>
              </a:lnSpc>
              <a:spcBef>
                <a:spcPts val="0"/>
              </a:spcBef>
              <a:spcAft>
                <a:spcPts val="0"/>
              </a:spcAft>
              <a:buSzPts val="1200"/>
              <a:buNone/>
            </a:pPr>
            <a:r>
              <a:rPr b="0" lang="uk-UA" sz="1200"/>
              <a:t>Визначивши медіану за допомогою віконної функції. Та округливши до 40 для зменшення шуму та кращого відображення на графіку.</a:t>
            </a:r>
            <a:endParaRPr/>
          </a:p>
        </p:txBody>
      </p:sp>
      <p:pic>
        <p:nvPicPr>
          <p:cNvPr id="178" name="Google Shape;178;p10"/>
          <p:cNvPicPr preferRelativeResize="0"/>
          <p:nvPr>
            <p:ph idx="2" type="body"/>
          </p:nvPr>
        </p:nvPicPr>
        <p:blipFill rotWithShape="1">
          <a:blip r:embed="rId3">
            <a:alphaModFix/>
          </a:blip>
          <a:srcRect b="0" l="0" r="0" t="0"/>
          <a:stretch/>
        </p:blipFill>
        <p:spPr>
          <a:xfrm>
            <a:off x="907490" y="531788"/>
            <a:ext cx="4102311" cy="2654436"/>
          </a:xfrm>
          <a:prstGeom prst="rect">
            <a:avLst/>
          </a:prstGeom>
          <a:noFill/>
          <a:ln>
            <a:noFill/>
          </a:ln>
        </p:spPr>
      </p:pic>
      <p:sp>
        <p:nvSpPr>
          <p:cNvPr id="179" name="Google Shape;179;p10"/>
          <p:cNvSpPr txBox="1"/>
          <p:nvPr>
            <p:ph idx="3" type="body"/>
          </p:nvPr>
        </p:nvSpPr>
        <p:spPr>
          <a:xfrm>
            <a:off x="626926" y="3671776"/>
            <a:ext cx="4663440" cy="1540303"/>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10000"/>
              </a:lnSpc>
              <a:spcBef>
                <a:spcPts val="0"/>
              </a:spcBef>
              <a:spcAft>
                <a:spcPts val="0"/>
              </a:spcAft>
              <a:buSzPts val="1200"/>
              <a:buNone/>
            </a:pPr>
            <a:r>
              <a:rPr lang="uk-UA" sz="1200"/>
              <a:t>Висновок : </a:t>
            </a:r>
            <a:r>
              <a:rPr b="0" lang="uk-UA" sz="1200"/>
              <a:t>Гіпотеза підтверджується.</a:t>
            </a:r>
            <a:endParaRPr/>
          </a:p>
          <a:p>
            <a:pPr indent="0" lvl="0" marL="0" rtl="0" algn="l">
              <a:lnSpc>
                <a:spcPct val="110000"/>
              </a:lnSpc>
              <a:spcBef>
                <a:spcPts val="0"/>
              </a:spcBef>
              <a:spcAft>
                <a:spcPts val="0"/>
              </a:spcAft>
              <a:buSzPts val="1200"/>
              <a:buNone/>
            </a:pPr>
            <a:r>
              <a:rPr b="0" lang="uk-UA" sz="1200"/>
              <a:t>Дорогі парфуми продаються менше за кількістю, але приносять більше прибутку за одиницю. Загальний дохід від дешевих більший, але дорогі теж суттєво впливають на сумарний прибуток.</a:t>
            </a:r>
            <a:endParaRPr/>
          </a:p>
          <a:p>
            <a:pPr indent="0" lvl="0" marL="0" rtl="0" algn="l">
              <a:lnSpc>
                <a:spcPct val="110000"/>
              </a:lnSpc>
              <a:spcBef>
                <a:spcPts val="0"/>
              </a:spcBef>
              <a:spcAft>
                <a:spcPts val="0"/>
              </a:spcAft>
              <a:buSzPts val="1900"/>
              <a:buNone/>
            </a:pPr>
            <a:r>
              <a:t/>
            </a:r>
            <a:endParaRPr/>
          </a:p>
        </p:txBody>
      </p:sp>
      <p:pic>
        <p:nvPicPr>
          <p:cNvPr id="180" name="Google Shape;180;p10"/>
          <p:cNvPicPr preferRelativeResize="0"/>
          <p:nvPr>
            <p:ph idx="4" type="body"/>
          </p:nvPr>
        </p:nvPicPr>
        <p:blipFill rotWithShape="1">
          <a:blip r:embed="rId4">
            <a:alphaModFix/>
          </a:blip>
          <a:srcRect b="0" l="0" r="0" t="0"/>
          <a:stretch/>
        </p:blipFill>
        <p:spPr>
          <a:xfrm>
            <a:off x="6994475" y="2862624"/>
            <a:ext cx="4664075" cy="2499162"/>
          </a:xfrm>
          <a:prstGeom prst="rect">
            <a:avLst/>
          </a:prstGeom>
          <a:noFill/>
          <a:ln>
            <a:noFill/>
          </a:ln>
        </p:spPr>
      </p:pic>
      <p:pic>
        <p:nvPicPr>
          <p:cNvPr id="181" name="Google Shape;181;p10"/>
          <p:cNvPicPr preferRelativeResize="0"/>
          <p:nvPr/>
        </p:nvPicPr>
        <p:blipFill rotWithShape="1">
          <a:blip r:embed="rId5">
            <a:alphaModFix/>
          </a:blip>
          <a:srcRect b="0" l="0" r="0" t="0"/>
          <a:stretch/>
        </p:blipFill>
        <p:spPr>
          <a:xfrm>
            <a:off x="3682025" y="2681094"/>
            <a:ext cx="1244664" cy="438173"/>
          </a:xfrm>
          <a:prstGeom prst="rect">
            <a:avLst/>
          </a:prstGeom>
          <a:noFill/>
          <a:ln>
            <a:noFill/>
          </a:ln>
        </p:spPr>
      </p:pic>
      <p:pic>
        <p:nvPicPr>
          <p:cNvPr id="182" name="Google Shape;182;p10"/>
          <p:cNvPicPr preferRelativeResize="0"/>
          <p:nvPr/>
        </p:nvPicPr>
        <p:blipFill rotWithShape="1">
          <a:blip r:embed="rId6">
            <a:alphaModFix/>
          </a:blip>
          <a:srcRect b="0" l="0" r="0" t="0"/>
          <a:stretch/>
        </p:blipFill>
        <p:spPr>
          <a:xfrm>
            <a:off x="437836" y="5738539"/>
            <a:ext cx="7055213" cy="69218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txBox="1"/>
          <p:nvPr>
            <p:ph idx="2" type="body"/>
          </p:nvPr>
        </p:nvSpPr>
        <p:spPr>
          <a:xfrm>
            <a:off x="2451100" y="1955810"/>
            <a:ext cx="7581900" cy="294638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000"/>
              <a:buNone/>
            </a:pPr>
            <a:r>
              <a:rPr lang="uk-UA" sz="2000"/>
              <a:t>Перевірка </a:t>
            </a:r>
            <a:r>
              <a:rPr b="1" lang="uk-UA" sz="2000"/>
              <a:t>Гіпотези : </a:t>
            </a:r>
            <a:r>
              <a:rPr i="1" lang="uk-UA" sz="2000"/>
              <a:t>Eau de Parfum </a:t>
            </a:r>
            <a:r>
              <a:rPr lang="uk-UA" sz="2000"/>
              <a:t>продаються краще за </a:t>
            </a:r>
            <a:r>
              <a:rPr i="1" lang="uk-UA" sz="2000"/>
              <a:t>Eau de Toilette</a:t>
            </a:r>
            <a:r>
              <a:rPr lang="uk-UA" sz="2000"/>
              <a:t>(за допомогою запитів SQL).</a:t>
            </a:r>
            <a:endParaRPr/>
          </a:p>
          <a:p>
            <a:pPr indent="0" lvl="0" marL="0" rtl="0" algn="l">
              <a:lnSpc>
                <a:spcPct val="110000"/>
              </a:lnSpc>
              <a:spcBef>
                <a:spcPts val="900"/>
              </a:spcBef>
              <a:spcAft>
                <a:spcPts val="0"/>
              </a:spcAft>
              <a:buSzPts val="1800"/>
              <a:buNone/>
            </a:pPr>
            <a:r>
              <a:t/>
            </a:r>
            <a:endParaRPr/>
          </a:p>
          <a:p>
            <a:pPr indent="0" lvl="0" marL="0" rtl="0" algn="l">
              <a:lnSpc>
                <a:spcPct val="110000"/>
              </a:lnSpc>
              <a:spcBef>
                <a:spcPts val="900"/>
              </a:spcBef>
              <a:spcAft>
                <a:spcPts val="0"/>
              </a:spcAft>
              <a:buSzPts val="1800"/>
              <a:buNone/>
            </a:pPr>
            <a:r>
              <a:rPr i="1" lang="uk-UA"/>
              <a:t>Загальна мета порахувати:</a:t>
            </a:r>
            <a:endParaRPr/>
          </a:p>
          <a:p>
            <a:pPr indent="-182880" lvl="1" marL="457200" rtl="0" algn="l">
              <a:lnSpc>
                <a:spcPct val="100000"/>
              </a:lnSpc>
              <a:spcBef>
                <a:spcPts val="500"/>
              </a:spcBef>
              <a:spcAft>
                <a:spcPts val="0"/>
              </a:spcAft>
              <a:buSzPts val="1600"/>
              <a:buChar char="◦"/>
            </a:pPr>
            <a:r>
              <a:rPr lang="uk-UA"/>
              <a:t>Перевірити , що </a:t>
            </a:r>
            <a:r>
              <a:rPr i="1" lang="uk-UA"/>
              <a:t>Eau de Parfum </a:t>
            </a:r>
            <a:r>
              <a:rPr lang="uk-UA"/>
              <a:t>продаються краще за </a:t>
            </a:r>
            <a:r>
              <a:rPr i="1" lang="uk-UA"/>
              <a:t>Eau de Toilette</a:t>
            </a:r>
            <a:r>
              <a:rPr lang="uk-UA"/>
              <a:t>, тобто мають вищі обсяги продажів (кількість проданих одиниць). </a:t>
            </a:r>
            <a:endParaRPr/>
          </a:p>
          <a:p>
            <a:pPr indent="-182880" lvl="1" marL="457200" rtl="0" algn="l">
              <a:lnSpc>
                <a:spcPct val="100000"/>
              </a:lnSpc>
              <a:spcBef>
                <a:spcPts val="500"/>
              </a:spcBef>
              <a:spcAft>
                <a:spcPts val="0"/>
              </a:spcAft>
              <a:buSzPts val="1600"/>
              <a:buChar char="◦"/>
            </a:pPr>
            <a:r>
              <a:rPr lang="uk-UA"/>
              <a:t> Порівнюємо загальну кількість продажів обох типів парфуму на основі даних з таблиць PARFUME_BASIC та PARFUME_AVAILABILITY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995E9"/>
        </a:solidFill>
      </p:bgPr>
    </p:bg>
    <p:spTree>
      <p:nvGrpSpPr>
        <p:cNvPr id="191" name="Shape 191"/>
        <p:cNvGrpSpPr/>
        <p:nvPr/>
      </p:nvGrpSpPr>
      <p:grpSpPr>
        <a:xfrm>
          <a:off x="0" y="0"/>
          <a:ext cx="0" cy="0"/>
          <a:chOff x="0" y="0"/>
          <a:chExt cx="0" cy="0"/>
        </a:xfrm>
      </p:grpSpPr>
      <p:sp>
        <p:nvSpPr>
          <p:cNvPr id="192" name="Google Shape;192;p12"/>
          <p:cNvSpPr txBox="1"/>
          <p:nvPr>
            <p:ph idx="1" type="body"/>
          </p:nvPr>
        </p:nvSpPr>
        <p:spPr>
          <a:xfrm>
            <a:off x="1066800" y="673100"/>
            <a:ext cx="10033000" cy="5279644"/>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500"/>
              <a:buNone/>
            </a:pPr>
            <a:r>
              <a:t/>
            </a:r>
            <a:endParaRPr/>
          </a:p>
          <a:p>
            <a:pPr indent="0" lvl="0" marL="0" rtl="0" algn="l">
              <a:lnSpc>
                <a:spcPct val="110000"/>
              </a:lnSpc>
              <a:spcBef>
                <a:spcPts val="900"/>
              </a:spcBef>
              <a:spcAft>
                <a:spcPts val="0"/>
              </a:spcAft>
              <a:buSzPts val="1500"/>
              <a:buNone/>
            </a:pPr>
            <a:r>
              <a:t/>
            </a:r>
            <a:endParaRPr/>
          </a:p>
          <a:p>
            <a:pPr indent="0" lvl="0" marL="0" rtl="0" algn="l">
              <a:lnSpc>
                <a:spcPct val="110000"/>
              </a:lnSpc>
              <a:spcBef>
                <a:spcPts val="900"/>
              </a:spcBef>
              <a:spcAft>
                <a:spcPts val="0"/>
              </a:spcAft>
              <a:buSzPts val="1500"/>
              <a:buNone/>
            </a:pPr>
            <a:r>
              <a:t/>
            </a:r>
            <a:endParaRPr/>
          </a:p>
          <a:p>
            <a:pPr indent="0" lvl="0" marL="0" rtl="0" algn="l">
              <a:lnSpc>
                <a:spcPct val="110000"/>
              </a:lnSpc>
              <a:spcBef>
                <a:spcPts val="900"/>
              </a:spcBef>
              <a:spcAft>
                <a:spcPts val="0"/>
              </a:spcAft>
              <a:buSzPts val="1500"/>
              <a:buNone/>
            </a:pPr>
            <a:r>
              <a:t/>
            </a:r>
            <a:endParaRPr/>
          </a:p>
          <a:p>
            <a:pPr indent="0" lvl="0" marL="0" rtl="0" algn="l">
              <a:lnSpc>
                <a:spcPct val="110000"/>
              </a:lnSpc>
              <a:spcBef>
                <a:spcPts val="900"/>
              </a:spcBef>
              <a:spcAft>
                <a:spcPts val="0"/>
              </a:spcAft>
              <a:buSzPts val="1500"/>
              <a:buNone/>
            </a:pPr>
            <a:r>
              <a:t/>
            </a:r>
            <a:endParaRPr/>
          </a:p>
          <a:p>
            <a:pPr indent="0" lvl="0" marL="0" rtl="0" algn="l">
              <a:lnSpc>
                <a:spcPct val="110000"/>
              </a:lnSpc>
              <a:spcBef>
                <a:spcPts val="900"/>
              </a:spcBef>
              <a:spcAft>
                <a:spcPts val="0"/>
              </a:spcAft>
              <a:buSzPts val="1500"/>
              <a:buNone/>
            </a:pPr>
            <a:r>
              <a:t/>
            </a:r>
            <a:endParaRPr/>
          </a:p>
          <a:p>
            <a:pPr indent="0" lvl="0" marL="0" rtl="0" algn="l">
              <a:lnSpc>
                <a:spcPct val="110000"/>
              </a:lnSpc>
              <a:spcBef>
                <a:spcPts val="900"/>
              </a:spcBef>
              <a:spcAft>
                <a:spcPts val="0"/>
              </a:spcAft>
              <a:buSzPts val="1500"/>
              <a:buNone/>
            </a:pPr>
            <a:r>
              <a:t/>
            </a:r>
            <a:endParaRPr/>
          </a:p>
          <a:p>
            <a:pPr indent="0" lvl="0" marL="0" rtl="0" algn="l">
              <a:lnSpc>
                <a:spcPct val="110000"/>
              </a:lnSpc>
              <a:spcBef>
                <a:spcPts val="900"/>
              </a:spcBef>
              <a:spcAft>
                <a:spcPts val="0"/>
              </a:spcAft>
              <a:buSzPts val="1500"/>
              <a:buNone/>
            </a:pPr>
            <a:r>
              <a:t/>
            </a:r>
            <a:endParaRPr/>
          </a:p>
          <a:p>
            <a:pPr indent="0" lvl="0" marL="0" rtl="0" algn="l">
              <a:lnSpc>
                <a:spcPct val="110000"/>
              </a:lnSpc>
              <a:spcBef>
                <a:spcPts val="900"/>
              </a:spcBef>
              <a:spcAft>
                <a:spcPts val="0"/>
              </a:spcAft>
              <a:buSzPts val="1500"/>
              <a:buNone/>
            </a:pPr>
            <a:r>
              <a:t/>
            </a:r>
            <a:endParaRPr/>
          </a:p>
          <a:p>
            <a:pPr indent="0" lvl="0" marL="0" rtl="0" algn="l">
              <a:lnSpc>
                <a:spcPct val="110000"/>
              </a:lnSpc>
              <a:spcBef>
                <a:spcPts val="900"/>
              </a:spcBef>
              <a:spcAft>
                <a:spcPts val="0"/>
              </a:spcAft>
              <a:buSzPts val="1500"/>
              <a:buNone/>
            </a:pPr>
            <a:r>
              <a:t/>
            </a:r>
            <a:endParaRPr/>
          </a:p>
          <a:p>
            <a:pPr indent="0" lvl="0" marL="0" rtl="0" algn="l">
              <a:lnSpc>
                <a:spcPct val="110000"/>
              </a:lnSpc>
              <a:spcBef>
                <a:spcPts val="900"/>
              </a:spcBef>
              <a:spcAft>
                <a:spcPts val="0"/>
              </a:spcAft>
              <a:buSzPts val="1200"/>
              <a:buNone/>
            </a:pPr>
            <a:r>
              <a:t/>
            </a:r>
            <a:endParaRPr b="1" sz="1200"/>
          </a:p>
          <a:p>
            <a:pPr indent="0" lvl="0" marL="0" rtl="0" algn="l">
              <a:lnSpc>
                <a:spcPct val="110000"/>
              </a:lnSpc>
              <a:spcBef>
                <a:spcPts val="900"/>
              </a:spcBef>
              <a:spcAft>
                <a:spcPts val="0"/>
              </a:spcAft>
              <a:buSzPts val="1200"/>
              <a:buNone/>
            </a:pPr>
            <a:r>
              <a:rPr b="1" lang="uk-UA" sz="1200"/>
              <a:t>Висновок : </a:t>
            </a:r>
            <a:r>
              <a:rPr lang="uk-UA" sz="1200"/>
              <a:t>Гіпотеза НЕ підтверджується. Навпаки, Eau de Toilette продаються краще, оскільки мають значно вищу загальну кількість продажів.</a:t>
            </a:r>
            <a:r>
              <a:rPr lang="uk-UA"/>
              <a:t> </a:t>
            </a:r>
            <a:r>
              <a:rPr lang="uk-UA" sz="1200"/>
              <a:t>Зважаючи на результати, варто приділити більше уваги продуктам типу Eau de Toilette при плануванні продажів чи маркетингових кампаній.</a:t>
            </a:r>
            <a:endParaRPr/>
          </a:p>
        </p:txBody>
      </p:sp>
      <p:pic>
        <p:nvPicPr>
          <p:cNvPr id="193" name="Google Shape;193;p12"/>
          <p:cNvPicPr preferRelativeResize="0"/>
          <p:nvPr/>
        </p:nvPicPr>
        <p:blipFill rotWithShape="1">
          <a:blip r:embed="rId3">
            <a:alphaModFix/>
          </a:blip>
          <a:srcRect b="0" l="0" r="0" t="0"/>
          <a:stretch/>
        </p:blipFill>
        <p:spPr>
          <a:xfrm>
            <a:off x="3826522" y="2993992"/>
            <a:ext cx="3853429" cy="1038258"/>
          </a:xfrm>
          <a:prstGeom prst="rect">
            <a:avLst/>
          </a:prstGeom>
          <a:noFill/>
          <a:ln>
            <a:noFill/>
          </a:ln>
        </p:spPr>
      </p:pic>
      <p:pic>
        <p:nvPicPr>
          <p:cNvPr id="194" name="Google Shape;194;p12"/>
          <p:cNvPicPr preferRelativeResize="0"/>
          <p:nvPr/>
        </p:nvPicPr>
        <p:blipFill rotWithShape="1">
          <a:blip r:embed="rId4">
            <a:alphaModFix/>
          </a:blip>
          <a:srcRect b="0" l="0" r="0" t="0"/>
          <a:stretch/>
        </p:blipFill>
        <p:spPr>
          <a:xfrm>
            <a:off x="3086100" y="1152492"/>
            <a:ext cx="5334274" cy="127641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3"/>
          <p:cNvSpPr txBox="1"/>
          <p:nvPr>
            <p:ph type="title"/>
          </p:nvPr>
        </p:nvSpPr>
        <p:spPr>
          <a:xfrm>
            <a:off x="977852" y="634282"/>
            <a:ext cx="4594167" cy="79251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600"/>
              <a:buFont typeface="Century Gothic"/>
              <a:buNone/>
            </a:pPr>
            <a:r>
              <a:rPr b="1" lang="uk-UA" sz="3600"/>
              <a:t>Етап 3 : Power BI</a:t>
            </a:r>
            <a:endParaRPr sz="3600"/>
          </a:p>
        </p:txBody>
      </p:sp>
      <p:sp>
        <p:nvSpPr>
          <p:cNvPr id="200" name="Google Shape;200;p13"/>
          <p:cNvSpPr txBox="1"/>
          <p:nvPr>
            <p:ph idx="2" type="body"/>
          </p:nvPr>
        </p:nvSpPr>
        <p:spPr>
          <a:xfrm>
            <a:off x="4957284" y="1582990"/>
            <a:ext cx="2381249" cy="3592259"/>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200"/>
              <a:buNone/>
            </a:pPr>
            <a:r>
              <a:rPr lang="uk-UA" sz="1200"/>
              <a:t>Лівий графік — Продажі.</a:t>
            </a:r>
            <a:endParaRPr/>
          </a:p>
          <a:p>
            <a:pPr indent="0" lvl="0" marL="0" rtl="0" algn="l">
              <a:lnSpc>
                <a:spcPct val="110000"/>
              </a:lnSpc>
              <a:spcBef>
                <a:spcPts val="900"/>
              </a:spcBef>
              <a:spcAft>
                <a:spcPts val="0"/>
              </a:spcAft>
              <a:buSzPts val="1200"/>
              <a:buNone/>
            </a:pPr>
            <a:r>
              <a:rPr lang="uk-UA" sz="1200"/>
              <a:t> Це лінійна діаграма, що чітко демонструє перевагу Класичного типу парфумів у комерційному успіху.</a:t>
            </a:r>
            <a:endParaRPr/>
          </a:p>
          <a:p>
            <a:pPr indent="0" lvl="0" marL="0" rtl="0" algn="l">
              <a:lnSpc>
                <a:spcPct val="110000"/>
              </a:lnSpc>
              <a:spcBef>
                <a:spcPts val="900"/>
              </a:spcBef>
              <a:spcAft>
                <a:spcPts val="0"/>
              </a:spcAft>
              <a:buSzPts val="1200"/>
              <a:buNone/>
            </a:pPr>
            <a:r>
              <a:t/>
            </a:r>
            <a:endParaRPr sz="1200"/>
          </a:p>
          <a:p>
            <a:pPr indent="0" lvl="0" marL="0" rtl="0" algn="l">
              <a:lnSpc>
                <a:spcPct val="110000"/>
              </a:lnSpc>
              <a:spcBef>
                <a:spcPts val="900"/>
              </a:spcBef>
              <a:spcAft>
                <a:spcPts val="0"/>
              </a:spcAft>
              <a:buSzPts val="1200"/>
              <a:buNone/>
            </a:pPr>
            <a:r>
              <a:t/>
            </a:r>
            <a:endParaRPr sz="1200"/>
          </a:p>
          <a:p>
            <a:pPr indent="0" lvl="0" marL="0" rtl="0" algn="l">
              <a:lnSpc>
                <a:spcPct val="110000"/>
              </a:lnSpc>
              <a:spcBef>
                <a:spcPts val="900"/>
              </a:spcBef>
              <a:spcAft>
                <a:spcPts val="0"/>
              </a:spcAft>
              <a:buSzPts val="1200"/>
              <a:buNone/>
            </a:pPr>
            <a:r>
              <a:t/>
            </a:r>
            <a:endParaRPr sz="1200"/>
          </a:p>
          <a:p>
            <a:pPr indent="0" lvl="0" marL="0" rtl="0" algn="l">
              <a:lnSpc>
                <a:spcPct val="110000"/>
              </a:lnSpc>
              <a:spcBef>
                <a:spcPts val="900"/>
              </a:spcBef>
              <a:spcAft>
                <a:spcPts val="0"/>
              </a:spcAft>
              <a:buSzPts val="1200"/>
              <a:buNone/>
            </a:pPr>
            <a:r>
              <a:rPr lang="uk-UA" sz="1200"/>
              <a:t>Правий графік — Кількість одиниць. </a:t>
            </a:r>
            <a:endParaRPr/>
          </a:p>
          <a:p>
            <a:pPr indent="0" lvl="0" marL="0" rtl="0" algn="l">
              <a:lnSpc>
                <a:spcPct val="110000"/>
              </a:lnSpc>
              <a:spcBef>
                <a:spcPts val="900"/>
              </a:spcBef>
              <a:spcAft>
                <a:spcPts val="0"/>
              </a:spcAft>
              <a:buSzPts val="1200"/>
              <a:buNone/>
            </a:pPr>
            <a:r>
              <a:rPr lang="uk-UA" sz="1200"/>
              <a:t>Стовпчиковий графік свідчить про те, що Other має більший обсяг, але продається дуже слабо</a:t>
            </a:r>
            <a:endParaRPr/>
          </a:p>
        </p:txBody>
      </p:sp>
      <p:pic>
        <p:nvPicPr>
          <p:cNvPr descr="Изображение выглядит как текст, снимок экрана, линия, Шрифт&#10;&#10;Содержимое, созданное искусственным интеллектом, может быть неверным." id="201" name="Google Shape;201;p13"/>
          <p:cNvPicPr preferRelativeResize="0"/>
          <p:nvPr/>
        </p:nvPicPr>
        <p:blipFill rotWithShape="1">
          <a:blip r:embed="rId3">
            <a:alphaModFix/>
          </a:blip>
          <a:srcRect b="0" l="0" r="0" t="0"/>
          <a:stretch/>
        </p:blipFill>
        <p:spPr>
          <a:xfrm>
            <a:off x="468328" y="1582991"/>
            <a:ext cx="4417320" cy="3592259"/>
          </a:xfrm>
          <a:prstGeom prst="rect">
            <a:avLst/>
          </a:prstGeom>
          <a:noFill/>
          <a:ln>
            <a:noFill/>
          </a:ln>
        </p:spPr>
      </p:pic>
      <p:pic>
        <p:nvPicPr>
          <p:cNvPr descr="Изображение выглядит как текст, снимок экрана, Шрифт, дизайн" id="202" name="Google Shape;202;p13"/>
          <p:cNvPicPr preferRelativeResize="0"/>
          <p:nvPr/>
        </p:nvPicPr>
        <p:blipFill rotWithShape="1">
          <a:blip r:embed="rId4">
            <a:alphaModFix/>
          </a:blip>
          <a:srcRect b="0" l="0" r="0" t="0"/>
          <a:stretch/>
        </p:blipFill>
        <p:spPr>
          <a:xfrm>
            <a:off x="7410170" y="1582990"/>
            <a:ext cx="4313502" cy="359225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4"/>
          <p:cNvSpPr txBox="1"/>
          <p:nvPr>
            <p:ph idx="1" type="body"/>
          </p:nvPr>
        </p:nvSpPr>
        <p:spPr>
          <a:xfrm>
            <a:off x="717550" y="787400"/>
            <a:ext cx="3892550" cy="4883150"/>
          </a:xfrm>
          <a:prstGeom prst="rect">
            <a:avLst/>
          </a:prstGeom>
          <a:noFill/>
          <a:ln>
            <a:noFill/>
          </a:ln>
        </p:spPr>
        <p:txBody>
          <a:bodyPr anchorCtr="0" anchor="t" bIns="45700" lIns="91425" spcFirstLastPara="1" rIns="91425" wrap="square" tIns="45700">
            <a:normAutofit fontScale="92500" lnSpcReduction="10000"/>
          </a:bodyPr>
          <a:lstStyle/>
          <a:p>
            <a:pPr indent="-182911" lvl="0" marL="182880" rtl="0" algn="l">
              <a:lnSpc>
                <a:spcPct val="110000"/>
              </a:lnSpc>
              <a:spcBef>
                <a:spcPts val="0"/>
              </a:spcBef>
              <a:spcAft>
                <a:spcPts val="0"/>
              </a:spcAft>
              <a:buSzPct val="100000"/>
              <a:buChar char="◦"/>
            </a:pPr>
            <a:r>
              <a:rPr lang="uk-UA" sz="1300"/>
              <a:t>На графіку зображено залежність між ціною товару (вісь X, від 0 до 300) та кількістю продажів у тисячах одиниць (вісь Y). </a:t>
            </a:r>
            <a:endParaRPr sz="1300"/>
          </a:p>
          <a:p>
            <a:pPr indent="-182911" lvl="0" marL="182880" rtl="0" algn="l">
              <a:lnSpc>
                <a:spcPct val="110000"/>
              </a:lnSpc>
              <a:spcBef>
                <a:spcPts val="900"/>
              </a:spcBef>
              <a:spcAft>
                <a:spcPts val="0"/>
              </a:spcAft>
              <a:buSzPct val="100000"/>
              <a:buChar char="◦"/>
            </a:pPr>
            <a:r>
              <a:rPr lang="uk-UA" sz="1300"/>
              <a:t>Найвищі продажі спостерігаються при низькій ціні — приблизно до 50 одиниць.</a:t>
            </a:r>
            <a:endParaRPr/>
          </a:p>
          <a:p>
            <a:pPr indent="-182911" lvl="0" marL="182880" rtl="0" algn="l">
              <a:lnSpc>
                <a:spcPct val="110000"/>
              </a:lnSpc>
              <a:spcBef>
                <a:spcPts val="900"/>
              </a:spcBef>
              <a:spcAft>
                <a:spcPts val="0"/>
              </a:spcAft>
              <a:buSzPct val="100000"/>
              <a:buChar char="◦"/>
            </a:pPr>
            <a:r>
              <a:rPr lang="uk-UA" sz="1300"/>
              <a:t>Далі, із зростанням ціни, продажі різко падають.</a:t>
            </a:r>
            <a:endParaRPr/>
          </a:p>
          <a:p>
            <a:pPr indent="-182911" lvl="0" marL="182880" rtl="0" algn="l">
              <a:lnSpc>
                <a:spcPct val="110000"/>
              </a:lnSpc>
              <a:spcBef>
                <a:spcPts val="900"/>
              </a:spcBef>
              <a:spcAft>
                <a:spcPts val="0"/>
              </a:spcAft>
              <a:buSzPct val="100000"/>
              <a:buChar char="◦"/>
            </a:pPr>
            <a:r>
              <a:rPr lang="uk-UA" sz="1300"/>
              <a:t>У діапазоні понад 100 одиниць продажі залишаються стабільно низькими.</a:t>
            </a:r>
            <a:endParaRPr/>
          </a:p>
          <a:p>
            <a:pPr indent="0" lvl="0" marL="0" rtl="0" algn="l">
              <a:lnSpc>
                <a:spcPct val="110000"/>
              </a:lnSpc>
              <a:spcBef>
                <a:spcPts val="900"/>
              </a:spcBef>
              <a:spcAft>
                <a:spcPts val="0"/>
              </a:spcAft>
              <a:buSzPct val="100000"/>
              <a:buNone/>
            </a:pPr>
            <a:r>
              <a:rPr lang="uk-UA" sz="1300"/>
              <a:t>    Висновки:</a:t>
            </a:r>
            <a:endParaRPr/>
          </a:p>
          <a:p>
            <a:pPr indent="-182911" lvl="0" marL="182880" rtl="0" algn="l">
              <a:lnSpc>
                <a:spcPct val="110000"/>
              </a:lnSpc>
              <a:spcBef>
                <a:spcPts val="900"/>
              </a:spcBef>
              <a:spcAft>
                <a:spcPts val="0"/>
              </a:spcAft>
              <a:buSzPct val="100000"/>
              <a:buChar char="◦"/>
            </a:pPr>
            <a:r>
              <a:rPr lang="uk-UA" sz="1300"/>
              <a:t>Покупці найбільш активно купують товар за низькою ціною.</a:t>
            </a:r>
            <a:endParaRPr/>
          </a:p>
          <a:p>
            <a:pPr indent="-182911" lvl="0" marL="182880" rtl="0" algn="l">
              <a:lnSpc>
                <a:spcPct val="110000"/>
              </a:lnSpc>
              <a:spcBef>
                <a:spcPts val="900"/>
              </a:spcBef>
              <a:spcAft>
                <a:spcPts val="0"/>
              </a:spcAft>
              <a:buSzPct val="100000"/>
              <a:buChar char="◦"/>
            </a:pPr>
            <a:r>
              <a:rPr lang="uk-UA" sz="1300"/>
              <a:t>Ймовірно, попит є еластичним — тобто споживачі чутливо реагують на зміну ціни.</a:t>
            </a:r>
            <a:endParaRPr/>
          </a:p>
          <a:p>
            <a:pPr indent="-182911" lvl="0" marL="182880" rtl="0" algn="l">
              <a:lnSpc>
                <a:spcPct val="110000"/>
              </a:lnSpc>
              <a:spcBef>
                <a:spcPts val="900"/>
              </a:spcBef>
              <a:spcAft>
                <a:spcPts val="0"/>
              </a:spcAft>
              <a:buSzPct val="100000"/>
              <a:buChar char="◦"/>
            </a:pPr>
            <a:r>
              <a:rPr lang="uk-UA" sz="1300"/>
              <a:t>Для максимізації обсягу продажів варто розглянути цінову стратегію, орієнтовану на доступність.</a:t>
            </a:r>
            <a:endParaRPr/>
          </a:p>
          <a:p>
            <a:pPr indent="-182911" lvl="0" marL="182880" rtl="0" algn="l">
              <a:lnSpc>
                <a:spcPct val="110000"/>
              </a:lnSpc>
              <a:spcBef>
                <a:spcPts val="900"/>
              </a:spcBef>
              <a:spcAft>
                <a:spcPts val="0"/>
              </a:spcAft>
              <a:buSzPct val="100000"/>
              <a:buChar char="◦"/>
            </a:pPr>
            <a:r>
              <a:rPr lang="uk-UA" sz="1300"/>
              <a:t>Можливий варіант — продаж у великому обсязі за невисоку ціну або створення економ-пропозицій.</a:t>
            </a:r>
            <a:endParaRPr/>
          </a:p>
          <a:p>
            <a:pPr indent="-77152" lvl="0" marL="182880" rtl="0" algn="l">
              <a:lnSpc>
                <a:spcPct val="110000"/>
              </a:lnSpc>
              <a:spcBef>
                <a:spcPts val="900"/>
              </a:spcBef>
              <a:spcAft>
                <a:spcPts val="0"/>
              </a:spcAft>
              <a:buSzPct val="100000"/>
              <a:buNone/>
            </a:pPr>
            <a:r>
              <a:t/>
            </a:r>
            <a:endParaRPr/>
          </a:p>
        </p:txBody>
      </p:sp>
      <p:pic>
        <p:nvPicPr>
          <p:cNvPr descr="Изображение выглядит как текст, снимок экрана, График, линия&#10;&#10;Содержимое, созданное искусственным интеллектом, может быть неверным." id="208" name="Google Shape;208;p14"/>
          <p:cNvPicPr preferRelativeResize="0"/>
          <p:nvPr/>
        </p:nvPicPr>
        <p:blipFill rotWithShape="1">
          <a:blip r:embed="rId3">
            <a:alphaModFix/>
          </a:blip>
          <a:srcRect b="0" l="0" r="0" t="0"/>
          <a:stretch/>
        </p:blipFill>
        <p:spPr>
          <a:xfrm>
            <a:off x="4826815" y="787400"/>
            <a:ext cx="6647635" cy="389880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5"/>
          <p:cNvSpPr txBox="1"/>
          <p:nvPr>
            <p:ph type="title"/>
          </p:nvPr>
        </p:nvSpPr>
        <p:spPr>
          <a:xfrm>
            <a:off x="1066800" y="642594"/>
            <a:ext cx="10058400" cy="79251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600"/>
              <a:buFont typeface="Century Gothic"/>
              <a:buNone/>
            </a:pPr>
            <a:r>
              <a:rPr b="1" lang="uk-UA" sz="3600"/>
              <a:t>Етап 4 : Рекомендації</a:t>
            </a:r>
            <a:endParaRPr sz="3600"/>
          </a:p>
        </p:txBody>
      </p:sp>
      <p:sp>
        <p:nvSpPr>
          <p:cNvPr id="214" name="Google Shape;214;p15"/>
          <p:cNvSpPr txBox="1"/>
          <p:nvPr>
            <p:ph idx="2" type="body"/>
          </p:nvPr>
        </p:nvSpPr>
        <p:spPr>
          <a:xfrm>
            <a:off x="2451100" y="1955810"/>
            <a:ext cx="7581900" cy="4259596"/>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200"/>
              <a:buNone/>
            </a:pPr>
            <a:r>
              <a:rPr lang="uk-UA" sz="1200"/>
              <a:t>На основі даних та висновків, зображених на цих слайдах,  можу надати наступні рекомендації:</a:t>
            </a:r>
            <a:endParaRPr b="1" sz="1200"/>
          </a:p>
          <a:p>
            <a:pPr indent="0" lvl="0" marL="0" rtl="0" algn="l">
              <a:lnSpc>
                <a:spcPct val="110000"/>
              </a:lnSpc>
              <a:spcBef>
                <a:spcPts val="900"/>
              </a:spcBef>
              <a:spcAft>
                <a:spcPts val="0"/>
              </a:spcAft>
              <a:buSzPts val="1200"/>
              <a:buNone/>
            </a:pPr>
            <a:r>
              <a:rPr b="1" lang="uk-UA" sz="1200"/>
              <a:t>Цінова стратегія</a:t>
            </a:r>
            <a:r>
              <a:rPr lang="uk-UA" sz="1200"/>
              <a:t>: Оскільки дорогі парфуми продаються рідше, але приносять більше прибутку за одиницю, варто розглянути можливість зниження цін на деякі дорогі парфуми для збільшення обсягу продажів. Це може допомогти залучити більше покупців, які чутливо реагують на зміну ціни.</a:t>
            </a:r>
            <a:endParaRPr/>
          </a:p>
          <a:p>
            <a:pPr indent="0" lvl="0" marL="0" rtl="0" algn="l">
              <a:lnSpc>
                <a:spcPct val="110000"/>
              </a:lnSpc>
              <a:spcBef>
                <a:spcPts val="900"/>
              </a:spcBef>
              <a:spcAft>
                <a:spcPts val="0"/>
              </a:spcAft>
              <a:buSzPts val="1200"/>
              <a:buNone/>
            </a:pPr>
            <a:r>
              <a:rPr b="1" lang="uk-UA" sz="1200"/>
              <a:t>Фокус на дешеві парфуми</a:t>
            </a:r>
            <a:r>
              <a:rPr lang="uk-UA" sz="1200"/>
              <a:t>: Враховуючи, що загальний дохід від дешевих парфумів більший, компанії варто зосередитися на збільшенні асортименту дешевих парфумів та активному їх просуванні. Це може допомогти збільшити загальний обсяг продажів та прибуток.</a:t>
            </a:r>
            <a:endParaRPr/>
          </a:p>
          <a:p>
            <a:pPr indent="0" lvl="0" marL="0" rtl="0" algn="l">
              <a:lnSpc>
                <a:spcPct val="110000"/>
              </a:lnSpc>
              <a:spcBef>
                <a:spcPts val="900"/>
              </a:spcBef>
              <a:spcAft>
                <a:spcPts val="0"/>
              </a:spcAft>
              <a:buSzPts val="1200"/>
              <a:buNone/>
            </a:pPr>
            <a:r>
              <a:rPr b="1" lang="uk-UA" sz="1200"/>
              <a:t>Маркетингові кампанії</a:t>
            </a:r>
            <a:r>
              <a:rPr lang="uk-UA" sz="1200"/>
              <a:t>: Для дорогих парфумів варто розробити спеціальні маркетингові кампанії, які підкреслюють їхню унікальність та ексклюзивність. Це може допомогти залучити покупців, готових платити більше за якість та бренд.</a:t>
            </a:r>
            <a:endParaRPr/>
          </a:p>
          <a:p>
            <a:pPr indent="0" lvl="0" marL="0" rtl="0" algn="l">
              <a:lnSpc>
                <a:spcPct val="110000"/>
              </a:lnSpc>
              <a:spcBef>
                <a:spcPts val="900"/>
              </a:spcBef>
              <a:spcAft>
                <a:spcPts val="0"/>
              </a:spcAft>
              <a:buSzPts val="1200"/>
              <a:buNone/>
            </a:pPr>
            <a:r>
              <a:rPr b="1" lang="uk-UA" sz="1200"/>
              <a:t>Аналіз ринку</a:t>
            </a:r>
            <a:r>
              <a:rPr lang="uk-UA" sz="1200"/>
              <a:t>: Регулярно проводити аналіз ринку для виявлення нових тенденцій та вподобань споживачів. Це допоможе швидко реагувати на зміни та коригувати стратегію продажів.</a:t>
            </a:r>
            <a:endParaRPr/>
          </a:p>
          <a:p>
            <a:pPr indent="0" lvl="0" marL="0" rtl="0" algn="l">
              <a:lnSpc>
                <a:spcPct val="110000"/>
              </a:lnSpc>
              <a:spcBef>
                <a:spcPts val="900"/>
              </a:spcBef>
              <a:spcAft>
                <a:spcPts val="0"/>
              </a:spcAft>
              <a:buSzPts val="1200"/>
              <a:buNone/>
            </a:pPr>
            <a:r>
              <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Тема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avonVTI">
  <a:themeElements>
    <a:clrScheme name="FIVE">
      <a:dk1>
        <a:srgbClr val="000000"/>
      </a:dk1>
      <a:lt1>
        <a:srgbClr val="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2025-07-15T08:04:15Z</dcterms:created>
  <dc:creator>Сергей Красюк</dc:creator>
</cp:coreProperties>
</file>